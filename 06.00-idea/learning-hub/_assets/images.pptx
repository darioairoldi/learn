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2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9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3"/>
          <p:cNvSpPr/>
          <p:nvPr/>
        </p:nvSpPr>
        <p:spPr>
          <a:xfrm>
            <a:off x="436957" y="2215423"/>
            <a:ext cx="8674353" cy="4397251"/>
          </a:xfrm>
          <a:prstGeom prst="roundRect">
            <a:avLst>
              <a:gd name="adj" fmla="val 484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1480" y="1828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 — self-updating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feed the Hub  ·  PE artifacts and context information govern it  ·  three self-updating loops keep it current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850138"/>
            <a:ext cx="8674352" cy="128473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DD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9496" y="1466339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 artifacts</a:t>
            </a:r>
            <a:r>
              <a:rPr lang="en-US" sz="850" dirty="0">
                <a:solidFill>
                  <a:srgbClr val="5D6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the customization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" y="85765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information</a:t>
            </a:r>
            <a:r>
              <a:rPr lang="en-US" sz="850" dirty="0">
                <a:solidFill>
                  <a:srgbClr val="5D6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structured, slow changing data on the content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92640" y="2507674"/>
            <a:ext cx="2148840" cy="2842315"/>
          </a:xfrm>
          <a:prstGeom prst="roundRect">
            <a:avLst>
              <a:gd name="adj" fmla="val 3404"/>
            </a:avLst>
          </a:prstGeom>
          <a:solidFill>
            <a:srgbClr val="E6F1F5"/>
          </a:solidFill>
          <a:ln w="15875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0" y="2635690"/>
            <a:ext cx="2148840" cy="2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20656" y="2964875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93808" y="3010594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&amp; newsletters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RSS/Atom, release notes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20656" y="3417249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93808" y="3462968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events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slides, proceedings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20656" y="3888673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93808" y="3934392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talks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recordings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820656" y="4353747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93808" y="4399466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reports, vendor docs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deep sources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820656" y="4818821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93808" y="4864540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work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experiments, corrections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82453" y="2226348"/>
            <a:ext cx="347472" cy="256032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2727" y="3426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prompt engineering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28287" y="224093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</a:t>
            </a:r>
            <a:endParaRPr lang="en-US" sz="8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32727" y="5823611"/>
            <a:ext cx="208534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6775" y="5878475"/>
            <a:ext cx="1939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 Account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metadata on every piece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3369" y="2615981"/>
            <a:ext cx="208534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7417" y="2670845"/>
            <a:ext cx="1939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→ HTML, no build step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71509" y="2623347"/>
            <a:ext cx="208534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25557" y="2678211"/>
            <a:ext cx="1939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navigation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live from the hierarchy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182354" y="4208647"/>
            <a:ext cx="382270" cy="420624"/>
          </a:xfrm>
          <a:prstGeom prst="leftArrow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989953" y="3219485"/>
            <a:ext cx="822960" cy="701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b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</a:p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</a:t>
            </a:r>
            <a:b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b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</a:p>
        </p:txBody>
      </p:sp>
      <p:sp>
        <p:nvSpPr>
          <p:cNvPr id="61" name="Text 59"/>
          <p:cNvSpPr/>
          <p:nvPr/>
        </p:nvSpPr>
        <p:spPr>
          <a:xfrm>
            <a:off x="555171" y="3734449"/>
            <a:ext cx="830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07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SELF-UPDATING ARTICLES</a:t>
            </a:r>
            <a:r>
              <a:rPr lang="en-US" sz="850" kern="0" spc="50" dirty="0">
                <a:solidFill>
                  <a:srgbClr val="5D6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Detect → Assess → Propose → Execute, under human governance</a:t>
            </a:r>
            <a:endParaRPr lang="en-US" sz="1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32DE1F6-0939-CC1E-17E8-7FA19ACBAA80}"/>
              </a:ext>
            </a:extLst>
          </p:cNvPr>
          <p:cNvGrpSpPr/>
          <p:nvPr/>
        </p:nvGrpSpPr>
        <p:grpSpPr>
          <a:xfrm>
            <a:off x="6915540" y="4000639"/>
            <a:ext cx="1920626" cy="841248"/>
            <a:chOff x="7133712" y="3808570"/>
            <a:chExt cx="1920626" cy="841248"/>
          </a:xfrm>
        </p:grpSpPr>
        <p:sp>
          <p:nvSpPr>
            <p:cNvPr id="62" name="Shape 60"/>
            <p:cNvSpPr/>
            <p:nvPr/>
          </p:nvSpPr>
          <p:spPr>
            <a:xfrm>
              <a:off x="7133712" y="3808570"/>
              <a:ext cx="1920626" cy="841248"/>
            </a:xfrm>
            <a:prstGeom prst="rect">
              <a:avLst/>
            </a:prstGeom>
            <a:solidFill>
              <a:srgbClr val="F1F5FA"/>
            </a:solidFill>
            <a:ln w="9525">
              <a:solidFill>
                <a:srgbClr val="D8E1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7133712" y="3808570"/>
              <a:ext cx="1920626" cy="50292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62"/>
            <p:cNvSpPr/>
            <p:nvPr/>
          </p:nvSpPr>
          <p:spPr>
            <a:xfrm>
              <a:off x="7216008" y="3900010"/>
              <a:ext cx="176319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65A82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Research</a:t>
              </a:r>
              <a:endParaRPr lang="en-US" sz="9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7216008" y="4101178"/>
              <a:ext cx="176319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Discover → Validate → Reason → Synthesize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 triangulation (≥2 sources)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knowledge-gap analysis</a:t>
              </a:r>
              <a:endParaRPr lang="en-US" sz="72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D483B0E-E2BC-6D39-9723-7B5D798EF51E}"/>
              </a:ext>
            </a:extLst>
          </p:cNvPr>
          <p:cNvGrpSpPr/>
          <p:nvPr/>
        </p:nvGrpSpPr>
        <p:grpSpPr>
          <a:xfrm>
            <a:off x="526448" y="4033678"/>
            <a:ext cx="1920626" cy="841248"/>
            <a:chOff x="498295" y="3845040"/>
            <a:chExt cx="1920626" cy="841248"/>
          </a:xfrm>
        </p:grpSpPr>
        <p:sp>
          <p:nvSpPr>
            <p:cNvPr id="67" name="Shape 65"/>
            <p:cNvSpPr/>
            <p:nvPr/>
          </p:nvSpPr>
          <p:spPr>
            <a:xfrm>
              <a:off x="498295" y="3845040"/>
              <a:ext cx="1920626" cy="841248"/>
            </a:xfrm>
            <a:prstGeom prst="rect">
              <a:avLst/>
            </a:prstGeom>
            <a:solidFill>
              <a:srgbClr val="F1F5FA"/>
            </a:solidFill>
            <a:ln w="9525">
              <a:solidFill>
                <a:srgbClr val="D8E1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498295" y="3845040"/>
              <a:ext cx="1920626" cy="50292"/>
            </a:xfrm>
            <a:prstGeom prst="rect">
              <a:avLst/>
            </a:prstGeom>
            <a:solidFill>
              <a:srgbClr val="2E8B6B"/>
            </a:solidFill>
            <a:ln w="12700">
              <a:solidFill>
                <a:srgbClr val="2E8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580591" y="3936480"/>
              <a:ext cx="176319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E8B6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Deterministic checks · Tier 0</a:t>
              </a:r>
              <a:endParaRPr lang="en-US" sz="9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580591" y="4137648"/>
              <a:ext cx="176319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freshness scoring (the heartbeat)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link &amp; cross-reference validation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metadata / structure guards</a:t>
              </a:r>
              <a:endParaRPr lang="en-US" sz="72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1D66EC-7A3A-DF6F-C69C-B6940B9697C7}"/>
              </a:ext>
            </a:extLst>
          </p:cNvPr>
          <p:cNvGrpSpPr/>
          <p:nvPr/>
        </p:nvGrpSpPr>
        <p:grpSpPr>
          <a:xfrm>
            <a:off x="2650522" y="4020942"/>
            <a:ext cx="1920626" cy="841248"/>
            <a:chOff x="2762350" y="3845040"/>
            <a:chExt cx="1920626" cy="841248"/>
          </a:xfrm>
        </p:grpSpPr>
        <p:sp>
          <p:nvSpPr>
            <p:cNvPr id="72" name="Shape 70"/>
            <p:cNvSpPr/>
            <p:nvPr/>
          </p:nvSpPr>
          <p:spPr>
            <a:xfrm>
              <a:off x="2762350" y="3845040"/>
              <a:ext cx="1920626" cy="841248"/>
            </a:xfrm>
            <a:prstGeom prst="rect">
              <a:avLst/>
            </a:prstGeom>
            <a:solidFill>
              <a:srgbClr val="F1F5FA"/>
            </a:solidFill>
            <a:ln w="9525">
              <a:solidFill>
                <a:srgbClr val="D8E1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2762350" y="3845040"/>
              <a:ext cx="1920626" cy="50292"/>
            </a:xfrm>
            <a:prstGeom prst="rect">
              <a:avLst/>
            </a:prstGeom>
            <a:solidFill>
              <a:srgbClr val="7B61A8"/>
            </a:solidFill>
            <a:ln w="12700">
              <a:solidFill>
                <a:srgbClr val="7B61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72"/>
            <p:cNvSpPr/>
            <p:nvPr/>
          </p:nvSpPr>
          <p:spPr>
            <a:xfrm>
              <a:off x="2844646" y="3936480"/>
              <a:ext cx="176319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7B61A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AI-driven checks · Tier 1–2</a:t>
              </a:r>
              <a:endParaRPr lang="en-US" sz="9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2844646" y="4137648"/>
              <a:ext cx="176319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claim verification against sources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coverage &amp; gap assessment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readability + domain expertise</a:t>
              </a:r>
              <a:endParaRPr lang="en-US" sz="72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7E51E8-7C47-C230-5F23-F690E6E94CD2}"/>
              </a:ext>
            </a:extLst>
          </p:cNvPr>
          <p:cNvGrpSpPr/>
          <p:nvPr/>
        </p:nvGrpSpPr>
        <p:grpSpPr>
          <a:xfrm>
            <a:off x="4781356" y="4030727"/>
            <a:ext cx="1920626" cy="841248"/>
            <a:chOff x="5026404" y="3845040"/>
            <a:chExt cx="1920626" cy="841248"/>
          </a:xfrm>
        </p:grpSpPr>
        <p:sp>
          <p:nvSpPr>
            <p:cNvPr id="77" name="Shape 75"/>
            <p:cNvSpPr/>
            <p:nvPr/>
          </p:nvSpPr>
          <p:spPr>
            <a:xfrm>
              <a:off x="5026404" y="3845040"/>
              <a:ext cx="1920626" cy="841248"/>
            </a:xfrm>
            <a:prstGeom prst="rect">
              <a:avLst/>
            </a:prstGeom>
            <a:solidFill>
              <a:srgbClr val="F1F5FA"/>
            </a:solidFill>
            <a:ln w="9525">
              <a:solidFill>
                <a:srgbClr val="D8E1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76"/>
            <p:cNvSpPr/>
            <p:nvPr/>
          </p:nvSpPr>
          <p:spPr>
            <a:xfrm>
              <a:off x="5026404" y="3845040"/>
              <a:ext cx="1920626" cy="50292"/>
            </a:xfrm>
            <a:prstGeom prst="rect">
              <a:avLst/>
            </a:prstGeom>
            <a:solidFill>
              <a:srgbClr val="E07A3F"/>
            </a:solidFill>
            <a:ln w="12700">
              <a:solidFill>
                <a:srgbClr val="E07A3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77"/>
            <p:cNvSpPr/>
            <p:nvPr/>
          </p:nvSpPr>
          <p:spPr>
            <a:xfrm>
              <a:off x="5108700" y="3936480"/>
              <a:ext cx="176319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E07A3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Creative &amp; critical analysis</a:t>
              </a:r>
              <a:endParaRPr lang="en-US" sz="9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5108700" y="4137648"/>
              <a:ext cx="176319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critical review of claims and structure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creative development of the argument</a:t>
              </a:r>
              <a:endParaRPr lang="en-US" sz="720" dirty="0"/>
            </a:p>
            <a:p>
              <a:pPr marL="342900" indent="-342900">
                <a:buSzPct val="100000"/>
                <a:buChar char="•"/>
              </a:pPr>
              <a:r>
                <a:rPr lang="en-US" sz="72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clarity, consistency, gap removal</a:t>
              </a:r>
              <a:endParaRPr lang="en-US" sz="720" dirty="0"/>
            </a:p>
          </p:txBody>
        </p:sp>
      </p:grpSp>
      <p:sp>
        <p:nvSpPr>
          <p:cNvPr id="81" name="Shape 79"/>
          <p:cNvSpPr/>
          <p:nvPr/>
        </p:nvSpPr>
        <p:spPr>
          <a:xfrm>
            <a:off x="9440266" y="6071616"/>
            <a:ext cx="164592" cy="182880"/>
          </a:xfrm>
          <a:prstGeom prst="rightArrow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9650578" y="5742432"/>
            <a:ext cx="2008022" cy="841248"/>
          </a:xfrm>
          <a:prstGeom prst="rect">
            <a:avLst/>
          </a:prstGeom>
          <a:solidFill>
            <a:srgbClr val="F1F5FA"/>
          </a:solidFill>
          <a:ln w="9525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9650578" y="5742432"/>
            <a:ext cx="2008022" cy="5029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732874" y="5833872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publish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9732874" y="6035040"/>
            <a:ext cx="18434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anchored edits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metadata-guarded, series-integrity safe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next request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30787" y="1106570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00.00-prompt-engineering</a:t>
            </a:r>
          </a:p>
        </p:txBody>
      </p:sp>
      <p:sp>
        <p:nvSpPr>
          <p:cNvPr id="87" name="Shape 13">
            <a:extLst>
              <a:ext uri="{FF2B5EF4-FFF2-40B4-BE49-F238E27FC236}">
                <a16:creationId xmlns:a16="http://schemas.microsoft.com/office/drawing/2014/main" id="{D6D40749-0584-A8E2-E268-DA08F07A606B}"/>
              </a:ext>
            </a:extLst>
          </p:cNvPr>
          <p:cNvSpPr/>
          <p:nvPr/>
        </p:nvSpPr>
        <p:spPr>
          <a:xfrm>
            <a:off x="2385190" y="1106570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01.00-article-writing</a:t>
            </a: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B46499D6-D71B-87CA-2D5B-35DB034C8F25}"/>
              </a:ext>
            </a:extLst>
          </p:cNvPr>
          <p:cNvSpPr/>
          <p:nvPr/>
        </p:nvSpPr>
        <p:spPr>
          <a:xfrm>
            <a:off x="4239593" y="1089152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90.00-learning-hub</a:t>
            </a:r>
          </a:p>
        </p:txBody>
      </p:sp>
      <p:sp>
        <p:nvSpPr>
          <p:cNvPr id="89" name="Shape 13">
            <a:extLst>
              <a:ext uri="{FF2B5EF4-FFF2-40B4-BE49-F238E27FC236}">
                <a16:creationId xmlns:a16="http://schemas.microsoft.com/office/drawing/2014/main" id="{CDE84B07-DF16-CD79-0EA6-9CBDF1678FFD}"/>
              </a:ext>
            </a:extLst>
          </p:cNvPr>
          <p:cNvSpPr/>
          <p:nvPr/>
        </p:nvSpPr>
        <p:spPr>
          <a:xfrm>
            <a:off x="1897815" y="1703575"/>
            <a:ext cx="12905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Prompts</a:t>
            </a: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84577D21-ECBB-0C05-3763-66412FCADB5E}"/>
              </a:ext>
            </a:extLst>
          </p:cNvPr>
          <p:cNvSpPr/>
          <p:nvPr/>
        </p:nvSpPr>
        <p:spPr>
          <a:xfrm>
            <a:off x="516637" y="1703575"/>
            <a:ext cx="12905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Instructions</a:t>
            </a:r>
          </a:p>
        </p:txBody>
      </p:sp>
      <p:sp>
        <p:nvSpPr>
          <p:cNvPr id="91" name="Shape 13">
            <a:extLst>
              <a:ext uri="{FF2B5EF4-FFF2-40B4-BE49-F238E27FC236}">
                <a16:creationId xmlns:a16="http://schemas.microsoft.com/office/drawing/2014/main" id="{2C04FFD3-5A63-97E4-4607-CA8882E64383}"/>
              </a:ext>
            </a:extLst>
          </p:cNvPr>
          <p:cNvSpPr/>
          <p:nvPr/>
        </p:nvSpPr>
        <p:spPr>
          <a:xfrm>
            <a:off x="3281648" y="1703575"/>
            <a:ext cx="12905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Agents</a:t>
            </a:r>
          </a:p>
        </p:txBody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0ABC2F44-C9CB-E715-0738-7F2A674EABD8}"/>
              </a:ext>
            </a:extLst>
          </p:cNvPr>
          <p:cNvSpPr/>
          <p:nvPr/>
        </p:nvSpPr>
        <p:spPr>
          <a:xfrm>
            <a:off x="4676499" y="1714246"/>
            <a:ext cx="12905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Skills</a:t>
            </a:r>
          </a:p>
        </p:txBody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E22CF100-DF8F-E6A2-F3EC-DA65B1A5E3D3}"/>
              </a:ext>
            </a:extLst>
          </p:cNvPr>
          <p:cNvSpPr/>
          <p:nvPr/>
        </p:nvSpPr>
        <p:spPr>
          <a:xfrm>
            <a:off x="6087291" y="1089152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…</a:t>
            </a:r>
          </a:p>
        </p:txBody>
      </p:sp>
      <p:sp>
        <p:nvSpPr>
          <p:cNvPr id="41" name="Shape 39"/>
          <p:cNvSpPr/>
          <p:nvPr/>
        </p:nvSpPr>
        <p:spPr>
          <a:xfrm>
            <a:off x="8390534" y="1481328"/>
            <a:ext cx="347472" cy="2303018"/>
          </a:xfrm>
          <a:prstGeom prst="upArrow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15955" y="3569857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context information</a:t>
            </a:r>
            <a:endParaRPr lang="en-US" sz="8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94360" y="2039112"/>
            <a:ext cx="347472" cy="1640473"/>
          </a:xfrm>
          <a:prstGeom prst="upArrow">
            <a:avLst/>
          </a:prstGeom>
          <a:solidFill>
            <a:srgbClr val="C2477F"/>
          </a:solidFill>
          <a:ln w="6350">
            <a:solidFill>
              <a:srgbClr val="C24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46">
            <a:extLst>
              <a:ext uri="{FF2B5EF4-FFF2-40B4-BE49-F238E27FC236}">
                <a16:creationId xmlns:a16="http://schemas.microsoft.com/office/drawing/2014/main" id="{F775E63B-BF2F-299D-D5FC-92F622832DA5}"/>
              </a:ext>
            </a:extLst>
          </p:cNvPr>
          <p:cNvSpPr/>
          <p:nvPr/>
        </p:nvSpPr>
        <p:spPr>
          <a:xfrm>
            <a:off x="2577249" y="5823611"/>
            <a:ext cx="208534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47">
            <a:extLst>
              <a:ext uri="{FF2B5EF4-FFF2-40B4-BE49-F238E27FC236}">
                <a16:creationId xmlns:a16="http://schemas.microsoft.com/office/drawing/2014/main" id="{DE498FA0-EDC3-DA8B-3BA1-8C806B09718F}"/>
              </a:ext>
            </a:extLst>
          </p:cNvPr>
          <p:cNvSpPr/>
          <p:nvPr/>
        </p:nvSpPr>
        <p:spPr>
          <a:xfrm>
            <a:off x="2631297" y="5878475"/>
            <a:ext cx="1939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metadata on every piece</a:t>
            </a:r>
            <a:endParaRPr lang="en-US" sz="900" dirty="0"/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07AAE1B1-163D-155E-626F-CD339DD07C08}"/>
              </a:ext>
            </a:extLst>
          </p:cNvPr>
          <p:cNvSpPr/>
          <p:nvPr/>
        </p:nvSpPr>
        <p:spPr>
          <a:xfrm>
            <a:off x="6866696" y="5809060"/>
            <a:ext cx="208534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53BFDD70-1297-8039-1C58-3FE0F4E929C7}"/>
              </a:ext>
            </a:extLst>
          </p:cNvPr>
          <p:cNvSpPr/>
          <p:nvPr/>
        </p:nvSpPr>
        <p:spPr>
          <a:xfrm>
            <a:off x="6920744" y="5863924"/>
            <a:ext cx="1939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metadata on every piece</a:t>
            </a:r>
            <a:endParaRPr lang="en-US" sz="900" dirty="0"/>
          </a:p>
        </p:txBody>
      </p:sp>
      <p:sp>
        <p:nvSpPr>
          <p:cNvPr id="98" name="Shape 46">
            <a:extLst>
              <a:ext uri="{FF2B5EF4-FFF2-40B4-BE49-F238E27FC236}">
                <a16:creationId xmlns:a16="http://schemas.microsoft.com/office/drawing/2014/main" id="{D3A59379-0C5D-0180-5CCD-7E645F77203F}"/>
              </a:ext>
            </a:extLst>
          </p:cNvPr>
          <p:cNvSpPr/>
          <p:nvPr/>
        </p:nvSpPr>
        <p:spPr>
          <a:xfrm>
            <a:off x="4727308" y="5816610"/>
            <a:ext cx="208534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D38ED941-7A22-2B45-7921-F7BD37F1A493}"/>
              </a:ext>
            </a:extLst>
          </p:cNvPr>
          <p:cNvSpPr/>
          <p:nvPr/>
        </p:nvSpPr>
        <p:spPr>
          <a:xfrm>
            <a:off x="4781356" y="5871474"/>
            <a:ext cx="1939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 Account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metadata on every piece</a:t>
            </a:r>
            <a:endParaRPr lang="en-US" sz="900" dirty="0"/>
          </a:p>
        </p:txBody>
      </p:sp>
      <p:sp>
        <p:nvSpPr>
          <p:cNvPr id="101" name="Shape 25">
            <a:extLst>
              <a:ext uri="{FF2B5EF4-FFF2-40B4-BE49-F238E27FC236}">
                <a16:creationId xmlns:a16="http://schemas.microsoft.com/office/drawing/2014/main" id="{09D5E590-050A-4685-F0AE-33011A9412DA}"/>
              </a:ext>
            </a:extLst>
          </p:cNvPr>
          <p:cNvSpPr/>
          <p:nvPr/>
        </p:nvSpPr>
        <p:spPr>
          <a:xfrm>
            <a:off x="9692640" y="795247"/>
            <a:ext cx="2148840" cy="1571666"/>
          </a:xfrm>
          <a:prstGeom prst="roundRect">
            <a:avLst>
              <a:gd name="adj" fmla="val 3404"/>
            </a:avLst>
          </a:prstGeom>
          <a:solidFill>
            <a:srgbClr val="E6F1F5"/>
          </a:solidFill>
          <a:ln w="15875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 26">
            <a:extLst>
              <a:ext uri="{FF2B5EF4-FFF2-40B4-BE49-F238E27FC236}">
                <a16:creationId xmlns:a16="http://schemas.microsoft.com/office/drawing/2014/main" id="{8F57778B-62A2-68DB-56E5-BEDA387965F5}"/>
              </a:ext>
            </a:extLst>
          </p:cNvPr>
          <p:cNvSpPr/>
          <p:nvPr/>
        </p:nvSpPr>
        <p:spPr>
          <a:xfrm>
            <a:off x="9692640" y="866112"/>
            <a:ext cx="2148840" cy="2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</a:t>
            </a:r>
            <a:endParaRPr lang="en-US" sz="1050" dirty="0"/>
          </a:p>
        </p:txBody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0A43DD26-1099-6906-1E7C-BC1D46367014}"/>
              </a:ext>
            </a:extLst>
          </p:cNvPr>
          <p:cNvSpPr/>
          <p:nvPr/>
        </p:nvSpPr>
        <p:spPr>
          <a:xfrm>
            <a:off x="9832848" y="1084435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28">
            <a:extLst>
              <a:ext uri="{FF2B5EF4-FFF2-40B4-BE49-F238E27FC236}">
                <a16:creationId xmlns:a16="http://schemas.microsoft.com/office/drawing/2014/main" id="{623D8280-6CCC-2110-43C9-BC38474B5B4E}"/>
              </a:ext>
            </a:extLst>
          </p:cNvPr>
          <p:cNvSpPr/>
          <p:nvPr/>
        </p:nvSpPr>
        <p:spPr>
          <a:xfrm>
            <a:off x="9906000" y="1130154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and Folder metadata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for navigation/slow changing info</a:t>
            </a:r>
            <a:endParaRPr lang="en-US" sz="850" dirty="0"/>
          </a:p>
        </p:txBody>
      </p:sp>
      <p:sp>
        <p:nvSpPr>
          <p:cNvPr id="105" name="Shape 27">
            <a:extLst>
              <a:ext uri="{FF2B5EF4-FFF2-40B4-BE49-F238E27FC236}">
                <a16:creationId xmlns:a16="http://schemas.microsoft.com/office/drawing/2014/main" id="{7DC3DB3B-7A7D-9811-5B28-19379AC9CF76}"/>
              </a:ext>
            </a:extLst>
          </p:cNvPr>
          <p:cNvSpPr/>
          <p:nvPr/>
        </p:nvSpPr>
        <p:spPr>
          <a:xfrm>
            <a:off x="9832848" y="1512579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28">
            <a:extLst>
              <a:ext uri="{FF2B5EF4-FFF2-40B4-BE49-F238E27FC236}">
                <a16:creationId xmlns:a16="http://schemas.microsoft.com/office/drawing/2014/main" id="{74D7023B-9D18-08DB-9AE6-437C6CED0100}"/>
              </a:ext>
            </a:extLst>
          </p:cNvPr>
          <p:cNvSpPr/>
          <p:nvPr/>
        </p:nvSpPr>
        <p:spPr>
          <a:xfrm>
            <a:off x="9906000" y="1558298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scope boundaries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spec for autonomous changes</a:t>
            </a:r>
            <a:endParaRPr lang="en-US" sz="850" dirty="0"/>
          </a:p>
        </p:txBody>
      </p:sp>
      <p:sp>
        <p:nvSpPr>
          <p:cNvPr id="107" name="Shape 27">
            <a:extLst>
              <a:ext uri="{FF2B5EF4-FFF2-40B4-BE49-F238E27FC236}">
                <a16:creationId xmlns:a16="http://schemas.microsoft.com/office/drawing/2014/main" id="{8D11E6A3-D363-638F-CABF-7ED25F51416E}"/>
              </a:ext>
            </a:extLst>
          </p:cNvPr>
          <p:cNvSpPr/>
          <p:nvPr/>
        </p:nvSpPr>
        <p:spPr>
          <a:xfrm>
            <a:off x="9834728" y="1911751"/>
            <a:ext cx="1892808" cy="41046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28">
            <a:extLst>
              <a:ext uri="{FF2B5EF4-FFF2-40B4-BE49-F238E27FC236}">
                <a16:creationId xmlns:a16="http://schemas.microsoft.com/office/drawing/2014/main" id="{C8E3DDAC-BF3F-A83B-4328-270AA49E7AF2}"/>
              </a:ext>
            </a:extLst>
          </p:cNvPr>
          <p:cNvSpPr/>
          <p:nvPr/>
        </p:nvSpPr>
        <p:spPr>
          <a:xfrm>
            <a:off x="9907880" y="1957470"/>
            <a:ext cx="1746504" cy="3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+ rationale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principles and rationale for </a:t>
            </a:r>
            <a:r>
              <a:rPr lang="en-US" sz="720" dirty="0" err="1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</a:t>
            </a: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</a:t>
            </a:r>
            <a:endParaRPr lang="en-US" sz="850" dirty="0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C5D9F8DA-F7D3-9692-ED2F-E27E89ECE37E}"/>
              </a:ext>
            </a:extLst>
          </p:cNvPr>
          <p:cNvSpPr/>
          <p:nvPr/>
        </p:nvSpPr>
        <p:spPr>
          <a:xfrm>
            <a:off x="6072965" y="1705936"/>
            <a:ext cx="12905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50" dirty="0"/>
              <a:t>MCPs</a:t>
            </a:r>
          </a:p>
        </p:txBody>
      </p:sp>
      <p:sp>
        <p:nvSpPr>
          <p:cNvPr id="46" name="Text 44"/>
          <p:cNvSpPr/>
          <p:nvPr/>
        </p:nvSpPr>
        <p:spPr>
          <a:xfrm>
            <a:off x="526448" y="2704808"/>
            <a:ext cx="190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26448" y="2979127"/>
            <a:ext cx="1994693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corpus, delivered live</a:t>
            </a:r>
            <a:endParaRPr lang="en-US" sz="900" dirty="0"/>
          </a:p>
        </p:txBody>
      </p:sp>
      <p:sp>
        <p:nvSpPr>
          <p:cNvPr id="14" name="Shape 39">
            <a:extLst>
              <a:ext uri="{FF2B5EF4-FFF2-40B4-BE49-F238E27FC236}">
                <a16:creationId xmlns:a16="http://schemas.microsoft.com/office/drawing/2014/main" id="{26E6D857-54AF-68C6-FC5A-7E92B3BB9713}"/>
              </a:ext>
            </a:extLst>
          </p:cNvPr>
          <p:cNvSpPr/>
          <p:nvPr/>
        </p:nvSpPr>
        <p:spPr>
          <a:xfrm rot="6663568">
            <a:off x="1898492" y="4883622"/>
            <a:ext cx="106051" cy="737755"/>
          </a:xfrm>
          <a:prstGeom prst="upArrow">
            <a:avLst/>
          </a:prstGeom>
          <a:solidFill>
            <a:schemeClr val="bg1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39">
            <a:extLst>
              <a:ext uri="{FF2B5EF4-FFF2-40B4-BE49-F238E27FC236}">
                <a16:creationId xmlns:a16="http://schemas.microsoft.com/office/drawing/2014/main" id="{E335640D-FDEA-79EE-72B5-9F22369479F9}"/>
              </a:ext>
            </a:extLst>
          </p:cNvPr>
          <p:cNvSpPr/>
          <p:nvPr/>
        </p:nvSpPr>
        <p:spPr>
          <a:xfrm rot="6204438">
            <a:off x="2163910" y="4726977"/>
            <a:ext cx="106051" cy="737755"/>
          </a:xfrm>
          <a:prstGeom prst="upArrow">
            <a:avLst/>
          </a:prstGeom>
          <a:solidFill>
            <a:schemeClr val="bg1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39">
            <a:extLst>
              <a:ext uri="{FF2B5EF4-FFF2-40B4-BE49-F238E27FC236}">
                <a16:creationId xmlns:a16="http://schemas.microsoft.com/office/drawing/2014/main" id="{A62CA246-2DF5-962C-D3F5-8F27DCC3D61B}"/>
              </a:ext>
            </a:extLst>
          </p:cNvPr>
          <p:cNvSpPr/>
          <p:nvPr/>
        </p:nvSpPr>
        <p:spPr>
          <a:xfrm rot="7049372">
            <a:off x="1631512" y="4977775"/>
            <a:ext cx="106051" cy="737755"/>
          </a:xfrm>
          <a:prstGeom prst="upArrow">
            <a:avLst/>
          </a:prstGeom>
          <a:solidFill>
            <a:schemeClr val="bg1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39">
            <a:extLst>
              <a:ext uri="{FF2B5EF4-FFF2-40B4-BE49-F238E27FC236}">
                <a16:creationId xmlns:a16="http://schemas.microsoft.com/office/drawing/2014/main" id="{3296F820-4F3C-C850-1F3E-5D1F7D772F20}"/>
              </a:ext>
            </a:extLst>
          </p:cNvPr>
          <p:cNvSpPr/>
          <p:nvPr/>
        </p:nvSpPr>
        <p:spPr>
          <a:xfrm rot="10800000">
            <a:off x="1046970" y="5173098"/>
            <a:ext cx="106052" cy="569329"/>
          </a:xfrm>
          <a:prstGeom prst="upArrow">
            <a:avLst/>
          </a:prstGeom>
          <a:solidFill>
            <a:schemeClr val="bg1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39">
            <a:extLst>
              <a:ext uri="{FF2B5EF4-FFF2-40B4-BE49-F238E27FC236}">
                <a16:creationId xmlns:a16="http://schemas.microsoft.com/office/drawing/2014/main" id="{091614BA-F33D-0A35-E139-212BC11BAEE0}"/>
              </a:ext>
            </a:extLst>
          </p:cNvPr>
          <p:cNvSpPr/>
          <p:nvPr/>
        </p:nvSpPr>
        <p:spPr>
          <a:xfrm rot="16200000">
            <a:off x="9182955" y="854832"/>
            <a:ext cx="106051" cy="737755"/>
          </a:xfrm>
          <a:prstGeom prst="upArrow">
            <a:avLst/>
          </a:prstGeom>
          <a:solidFill>
            <a:schemeClr val="bg1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Shape 39">
            <a:extLst>
              <a:ext uri="{FF2B5EF4-FFF2-40B4-BE49-F238E27FC236}">
                <a16:creationId xmlns:a16="http://schemas.microsoft.com/office/drawing/2014/main" id="{B5935EC7-507C-7DAE-6B99-FC555D8633BA}"/>
              </a:ext>
            </a:extLst>
          </p:cNvPr>
          <p:cNvSpPr/>
          <p:nvPr/>
        </p:nvSpPr>
        <p:spPr>
          <a:xfrm rot="11950890">
            <a:off x="8981046" y="1988770"/>
            <a:ext cx="98270" cy="3660661"/>
          </a:xfrm>
          <a:prstGeom prst="upArrow">
            <a:avLst/>
          </a:prstGeom>
          <a:solidFill>
            <a:schemeClr val="bg1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Hub — self-updating architecture</dc:title>
  <dc:subject>PptxGenJS Presentation</dc:subject>
  <dc:creator>Dario Airoldi</dc:creator>
  <cp:lastModifiedBy>Dario Airoldi</cp:lastModifiedBy>
  <cp:revision>5</cp:revision>
  <dcterms:created xsi:type="dcterms:W3CDTF">2026-08-06T08:03:31Z</dcterms:created>
  <dcterms:modified xsi:type="dcterms:W3CDTF">2026-08-06T10:35:23Z</dcterms:modified>
</cp:coreProperties>
</file>