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120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870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2801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B2A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Hub — self-updating architecture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11480" y="50292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 feed the Hub · prompt-engineering artifacts govern it · self-update logic keeps artifacts, context and articles current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11480" y="868680"/>
            <a:ext cx="81381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6DFEC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" y="987552"/>
            <a:ext cx="173736" cy="1737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960120"/>
            <a:ext cx="7635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 UPDATING PROMPT-ENGINEERING ARTIFACTS</a:t>
            </a:r>
            <a:r>
              <a:rPr lang="en-US" sz="900" dirty="0">
                <a:solidFill>
                  <a:srgbClr val="6B7A9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the GitHub Copilot customization stack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21208" y="1252728"/>
            <a:ext cx="2331720" cy="1051560"/>
          </a:xfrm>
          <a:prstGeom prst="roundRect">
            <a:avLst>
              <a:gd name="adj" fmla="val 4348"/>
            </a:avLst>
          </a:prstGeom>
          <a:solidFill>
            <a:srgbClr val="F1FAF6"/>
          </a:solidFill>
          <a:ln w="15875">
            <a:solidFill>
              <a:srgbClr val="2FA3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1344168"/>
            <a:ext cx="146304" cy="14630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13816" y="1316736"/>
            <a:ext cx="1947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FA37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 files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621792" y="1508760"/>
            <a:ext cx="2130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B7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context information</a:t>
            </a:r>
            <a:endParaRPr lang="en-US" sz="750" dirty="0"/>
          </a:p>
        </p:txBody>
      </p:sp>
      <p:sp>
        <p:nvSpPr>
          <p:cNvPr id="11" name="Shape 7"/>
          <p:cNvSpPr/>
          <p:nvPr/>
        </p:nvSpPr>
        <p:spPr>
          <a:xfrm>
            <a:off x="621792" y="1700784"/>
            <a:ext cx="2130552" cy="16002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BFE3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621792" y="1700784"/>
            <a:ext cx="2130552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00.00-prompt-engineering</a:t>
            </a:r>
            <a:endParaRPr lang="en-US" sz="700" dirty="0"/>
          </a:p>
        </p:txBody>
      </p:sp>
      <p:sp>
        <p:nvSpPr>
          <p:cNvPr id="13" name="Shape 9"/>
          <p:cNvSpPr/>
          <p:nvPr/>
        </p:nvSpPr>
        <p:spPr>
          <a:xfrm>
            <a:off x="621792" y="1883664"/>
            <a:ext cx="2130552" cy="16002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BFE3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621792" y="1883664"/>
            <a:ext cx="2130552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01.00-article-writing</a:t>
            </a:r>
            <a:endParaRPr lang="en-US" sz="700" dirty="0"/>
          </a:p>
        </p:txBody>
      </p:sp>
      <p:sp>
        <p:nvSpPr>
          <p:cNvPr id="15" name="Shape 11"/>
          <p:cNvSpPr/>
          <p:nvPr/>
        </p:nvSpPr>
        <p:spPr>
          <a:xfrm>
            <a:off x="621792" y="2066544"/>
            <a:ext cx="2130552" cy="16002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BFE3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621792" y="2066544"/>
            <a:ext cx="2130552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90.00-learning-hub</a:t>
            </a:r>
            <a:endParaRPr lang="en-US" sz="700" dirty="0"/>
          </a:p>
        </p:txBody>
      </p:sp>
      <p:sp>
        <p:nvSpPr>
          <p:cNvPr id="17" name="Shape 13"/>
          <p:cNvSpPr/>
          <p:nvPr/>
        </p:nvSpPr>
        <p:spPr>
          <a:xfrm>
            <a:off x="2999232" y="1252728"/>
            <a:ext cx="5440680" cy="1051560"/>
          </a:xfrm>
          <a:prstGeom prst="roundRect">
            <a:avLst>
              <a:gd name="adj" fmla="val 4348"/>
            </a:avLst>
          </a:prstGeom>
          <a:solidFill>
            <a:srgbClr val="FDF3F7"/>
          </a:solidFill>
          <a:ln w="15875">
            <a:solidFill>
              <a:srgbClr val="D646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3099816" y="1353312"/>
            <a:ext cx="1248156" cy="240792"/>
          </a:xfrm>
          <a:prstGeom prst="roundRect">
            <a:avLst>
              <a:gd name="adj" fmla="val 11392"/>
            </a:avLst>
          </a:prstGeom>
          <a:solidFill>
            <a:srgbClr val="FFFFFF"/>
          </a:solidFill>
          <a:ln w="9525">
            <a:solidFill>
              <a:srgbClr val="EBC3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5"/>
          <p:cNvSpPr/>
          <p:nvPr/>
        </p:nvSpPr>
        <p:spPr>
          <a:xfrm>
            <a:off x="3118104" y="1353312"/>
            <a:ext cx="1211580" cy="240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copilot-instructions.md</a:t>
            </a:r>
            <a:endParaRPr lang="en-US" sz="700" dirty="0"/>
          </a:p>
        </p:txBody>
      </p:sp>
      <p:sp>
        <p:nvSpPr>
          <p:cNvPr id="20" name="Shape 16"/>
          <p:cNvSpPr/>
          <p:nvPr/>
        </p:nvSpPr>
        <p:spPr>
          <a:xfrm>
            <a:off x="4430268" y="1353312"/>
            <a:ext cx="1248156" cy="240792"/>
          </a:xfrm>
          <a:prstGeom prst="roundRect">
            <a:avLst>
              <a:gd name="adj" fmla="val 11392"/>
            </a:avLst>
          </a:prstGeom>
          <a:solidFill>
            <a:srgbClr val="FFFFFF"/>
          </a:solidFill>
          <a:ln w="9525">
            <a:solidFill>
              <a:srgbClr val="EBC3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4448556" y="1353312"/>
            <a:ext cx="1211580" cy="240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 .instructions.md</a:t>
            </a:r>
            <a:endParaRPr lang="en-US" sz="700" dirty="0"/>
          </a:p>
        </p:txBody>
      </p:sp>
      <p:sp>
        <p:nvSpPr>
          <p:cNvPr id="22" name="Shape 18"/>
          <p:cNvSpPr/>
          <p:nvPr/>
        </p:nvSpPr>
        <p:spPr>
          <a:xfrm>
            <a:off x="5760720" y="1353312"/>
            <a:ext cx="1248156" cy="240792"/>
          </a:xfrm>
          <a:prstGeom prst="roundRect">
            <a:avLst>
              <a:gd name="adj" fmla="val 11392"/>
            </a:avLst>
          </a:prstGeom>
          <a:solidFill>
            <a:srgbClr val="FFFFFF"/>
          </a:solidFill>
          <a:ln w="9525">
            <a:solidFill>
              <a:srgbClr val="EBC3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9"/>
          <p:cNvSpPr/>
          <p:nvPr/>
        </p:nvSpPr>
        <p:spPr>
          <a:xfrm>
            <a:off x="5779008" y="1353312"/>
            <a:ext cx="1211580" cy="240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 .prompt.md</a:t>
            </a:r>
            <a:endParaRPr lang="en-US" sz="700" dirty="0"/>
          </a:p>
        </p:txBody>
      </p:sp>
      <p:sp>
        <p:nvSpPr>
          <p:cNvPr id="24" name="Shape 20"/>
          <p:cNvSpPr/>
          <p:nvPr/>
        </p:nvSpPr>
        <p:spPr>
          <a:xfrm>
            <a:off x="7091172" y="1353312"/>
            <a:ext cx="1248156" cy="240792"/>
          </a:xfrm>
          <a:prstGeom prst="roundRect">
            <a:avLst>
              <a:gd name="adj" fmla="val 11392"/>
            </a:avLst>
          </a:prstGeom>
          <a:solidFill>
            <a:srgbClr val="FFFFFF"/>
          </a:solidFill>
          <a:ln w="9525">
            <a:solidFill>
              <a:srgbClr val="EBC3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1"/>
          <p:cNvSpPr/>
          <p:nvPr/>
        </p:nvSpPr>
        <p:spPr>
          <a:xfrm>
            <a:off x="7109460" y="1353312"/>
            <a:ext cx="1211580" cy="240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 .agent.md</a:t>
            </a:r>
            <a:endParaRPr lang="en-US" sz="700" dirty="0"/>
          </a:p>
        </p:txBody>
      </p:sp>
      <p:sp>
        <p:nvSpPr>
          <p:cNvPr id="26" name="Shape 22"/>
          <p:cNvSpPr/>
          <p:nvPr/>
        </p:nvSpPr>
        <p:spPr>
          <a:xfrm>
            <a:off x="3099816" y="1658112"/>
            <a:ext cx="1248156" cy="240792"/>
          </a:xfrm>
          <a:prstGeom prst="roundRect">
            <a:avLst>
              <a:gd name="adj" fmla="val 11392"/>
            </a:avLst>
          </a:prstGeom>
          <a:solidFill>
            <a:srgbClr val="FFFFFF"/>
          </a:solidFill>
          <a:ln w="9525">
            <a:solidFill>
              <a:srgbClr val="EBC3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3"/>
          <p:cNvSpPr/>
          <p:nvPr/>
        </p:nvSpPr>
        <p:spPr>
          <a:xfrm>
            <a:off x="3118104" y="1658112"/>
            <a:ext cx="1211580" cy="240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 SKILL.md</a:t>
            </a:r>
            <a:endParaRPr lang="en-US" sz="700" dirty="0"/>
          </a:p>
        </p:txBody>
      </p:sp>
      <p:sp>
        <p:nvSpPr>
          <p:cNvPr id="28" name="Shape 24"/>
          <p:cNvSpPr/>
          <p:nvPr/>
        </p:nvSpPr>
        <p:spPr>
          <a:xfrm>
            <a:off x="4430268" y="1658112"/>
            <a:ext cx="1248156" cy="240792"/>
          </a:xfrm>
          <a:prstGeom prst="roundRect">
            <a:avLst>
              <a:gd name="adj" fmla="val 11392"/>
            </a:avLst>
          </a:prstGeom>
          <a:solidFill>
            <a:srgbClr val="FFFFFF"/>
          </a:solidFill>
          <a:ln w="9525">
            <a:solidFill>
              <a:srgbClr val="EBC3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5"/>
          <p:cNvSpPr/>
          <p:nvPr/>
        </p:nvSpPr>
        <p:spPr>
          <a:xfrm>
            <a:off x="4448556" y="1658112"/>
            <a:ext cx="1211580" cy="240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 lifecycle events</a:t>
            </a:r>
            <a:endParaRPr lang="en-US" sz="700" dirty="0"/>
          </a:p>
        </p:txBody>
      </p:sp>
      <p:sp>
        <p:nvSpPr>
          <p:cNvPr id="30" name="Shape 26"/>
          <p:cNvSpPr/>
          <p:nvPr/>
        </p:nvSpPr>
        <p:spPr>
          <a:xfrm>
            <a:off x="5760720" y="1658112"/>
            <a:ext cx="1248156" cy="240792"/>
          </a:xfrm>
          <a:prstGeom prst="roundRect">
            <a:avLst>
              <a:gd name="adj" fmla="val 11392"/>
            </a:avLst>
          </a:prstGeom>
          <a:solidFill>
            <a:srgbClr val="FFFFFF"/>
          </a:solidFill>
          <a:ln w="9525">
            <a:solidFill>
              <a:srgbClr val="EBC3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/>
          <p:cNvSpPr/>
          <p:nvPr/>
        </p:nvSpPr>
        <p:spPr>
          <a:xfrm>
            <a:off x="5779008" y="1658112"/>
            <a:ext cx="1211580" cy="240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  tools</a:t>
            </a:r>
            <a:endParaRPr lang="en-US" sz="700" dirty="0"/>
          </a:p>
        </p:txBody>
      </p:sp>
      <p:sp>
        <p:nvSpPr>
          <p:cNvPr id="32" name="Shape 28"/>
          <p:cNvSpPr/>
          <p:nvPr/>
        </p:nvSpPr>
        <p:spPr>
          <a:xfrm>
            <a:off x="7091172" y="1658112"/>
            <a:ext cx="1248156" cy="240792"/>
          </a:xfrm>
          <a:prstGeom prst="roundRect">
            <a:avLst>
              <a:gd name="adj" fmla="val 11392"/>
            </a:avLst>
          </a:prstGeom>
          <a:solidFill>
            <a:srgbClr val="FFFFFF"/>
          </a:solidFill>
          <a:ln w="9525">
            <a:solidFill>
              <a:srgbClr val="EBC3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9"/>
          <p:cNvSpPr/>
          <p:nvPr/>
        </p:nvSpPr>
        <p:spPr>
          <a:xfrm>
            <a:off x="7109460" y="1658112"/>
            <a:ext cx="1211580" cy="240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modes  Agent/Plan/Ask/Edit</a:t>
            </a:r>
            <a:endParaRPr lang="en-US" sz="700" dirty="0"/>
          </a:p>
        </p:txBody>
      </p:sp>
      <p:sp>
        <p:nvSpPr>
          <p:cNvPr id="34" name="Shape 30"/>
          <p:cNvSpPr/>
          <p:nvPr/>
        </p:nvSpPr>
        <p:spPr>
          <a:xfrm>
            <a:off x="3099816" y="1962912"/>
            <a:ext cx="1248156" cy="240792"/>
          </a:xfrm>
          <a:prstGeom prst="roundRect">
            <a:avLst>
              <a:gd name="adj" fmla="val 11392"/>
            </a:avLst>
          </a:prstGeom>
          <a:solidFill>
            <a:srgbClr val="FFFFFF"/>
          </a:solidFill>
          <a:ln w="9525">
            <a:solidFill>
              <a:srgbClr val="EBC3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1"/>
          <p:cNvSpPr/>
          <p:nvPr/>
        </p:nvSpPr>
        <p:spPr>
          <a:xfrm>
            <a:off x="3118104" y="1962912"/>
            <a:ext cx="1211580" cy="240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700" dirty="0"/>
          </a:p>
        </p:txBody>
      </p:sp>
      <p:sp>
        <p:nvSpPr>
          <p:cNvPr id="36" name="Shape 32"/>
          <p:cNvSpPr/>
          <p:nvPr/>
        </p:nvSpPr>
        <p:spPr>
          <a:xfrm>
            <a:off x="4430268" y="1962912"/>
            <a:ext cx="1248156" cy="240792"/>
          </a:xfrm>
          <a:prstGeom prst="roundRect">
            <a:avLst>
              <a:gd name="adj" fmla="val 11392"/>
            </a:avLst>
          </a:prstGeom>
          <a:solidFill>
            <a:srgbClr val="FFFFFF"/>
          </a:solidFill>
          <a:ln w="9525">
            <a:solidFill>
              <a:srgbClr val="EBC3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3"/>
          <p:cNvSpPr/>
          <p:nvPr/>
        </p:nvSpPr>
        <p:spPr>
          <a:xfrm>
            <a:off x="4448556" y="1962912"/>
            <a:ext cx="1211580" cy="240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snippets</a:t>
            </a:r>
            <a:endParaRPr lang="en-US" sz="700" dirty="0"/>
          </a:p>
        </p:txBody>
      </p:sp>
      <p:sp>
        <p:nvSpPr>
          <p:cNvPr id="38" name="Shape 34"/>
          <p:cNvSpPr/>
          <p:nvPr/>
        </p:nvSpPr>
        <p:spPr>
          <a:xfrm>
            <a:off x="5760720" y="1962912"/>
            <a:ext cx="1248156" cy="240792"/>
          </a:xfrm>
          <a:prstGeom prst="roundRect">
            <a:avLst>
              <a:gd name="adj" fmla="val 11392"/>
            </a:avLst>
          </a:prstGeom>
          <a:solidFill>
            <a:srgbClr val="FFFFFF"/>
          </a:solidFill>
          <a:ln w="9525">
            <a:solidFill>
              <a:srgbClr val="EBC3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5"/>
          <p:cNvSpPr/>
          <p:nvPr/>
        </p:nvSpPr>
        <p:spPr>
          <a:xfrm>
            <a:off x="5779008" y="1962912"/>
            <a:ext cx="1211580" cy="240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&amp; BYOK</a:t>
            </a:r>
            <a:endParaRPr lang="en-US" sz="700" dirty="0"/>
          </a:p>
        </p:txBody>
      </p:sp>
      <p:sp>
        <p:nvSpPr>
          <p:cNvPr id="40" name="Shape 36"/>
          <p:cNvSpPr/>
          <p:nvPr/>
        </p:nvSpPr>
        <p:spPr>
          <a:xfrm>
            <a:off x="7091172" y="1962912"/>
            <a:ext cx="1248156" cy="240792"/>
          </a:xfrm>
          <a:prstGeom prst="roundRect">
            <a:avLst>
              <a:gd name="adj" fmla="val 11392"/>
            </a:avLst>
          </a:prstGeom>
          <a:solidFill>
            <a:srgbClr val="FFFFFF"/>
          </a:solidFill>
          <a:ln w="9525">
            <a:solidFill>
              <a:srgbClr val="EBC3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7"/>
          <p:cNvSpPr/>
          <p:nvPr/>
        </p:nvSpPr>
        <p:spPr>
          <a:xfrm>
            <a:off x="7109460" y="1962912"/>
            <a:ext cx="1211580" cy="240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Spaces</a:t>
            </a:r>
            <a:endParaRPr lang="en-US" sz="700" dirty="0"/>
          </a:p>
        </p:txBody>
      </p:sp>
      <p:sp>
        <p:nvSpPr>
          <p:cNvPr id="42" name="Shape 38"/>
          <p:cNvSpPr/>
          <p:nvPr/>
        </p:nvSpPr>
        <p:spPr>
          <a:xfrm>
            <a:off x="9098280" y="868680"/>
            <a:ext cx="2724912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5875">
            <a:solidFill>
              <a:srgbClr val="6366F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26296" y="987552"/>
            <a:ext cx="173736" cy="173736"/>
          </a:xfrm>
          <a:prstGeom prst="rect">
            <a:avLst/>
          </a:prstGeom>
        </p:spPr>
      </p:pic>
      <p:sp>
        <p:nvSpPr>
          <p:cNvPr id="44" name="Text 39"/>
          <p:cNvSpPr/>
          <p:nvPr/>
        </p:nvSpPr>
        <p:spPr>
          <a:xfrm>
            <a:off x="9464040" y="960120"/>
            <a:ext cx="2267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METADATA</a:t>
            </a:r>
            <a:endParaRPr lang="en-US" sz="1100" dirty="0"/>
          </a:p>
        </p:txBody>
      </p:sp>
      <p:sp>
        <p:nvSpPr>
          <p:cNvPr id="45" name="Text 40"/>
          <p:cNvSpPr/>
          <p:nvPr/>
        </p:nvSpPr>
        <p:spPr>
          <a:xfrm>
            <a:off x="9226296" y="1197864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B7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PE artifacts and articles</a:t>
            </a:r>
            <a:endParaRPr lang="en-US" sz="750" dirty="0"/>
          </a:p>
        </p:txBody>
      </p:sp>
      <p:sp>
        <p:nvSpPr>
          <p:cNvPr id="46" name="Shape 41"/>
          <p:cNvSpPr/>
          <p:nvPr/>
        </p:nvSpPr>
        <p:spPr>
          <a:xfrm>
            <a:off x="9226296" y="1399032"/>
            <a:ext cx="2468880" cy="292608"/>
          </a:xfrm>
          <a:prstGeom prst="roundRect">
            <a:avLst>
              <a:gd name="adj" fmla="val 9375"/>
            </a:avLst>
          </a:prstGeom>
          <a:solidFill>
            <a:srgbClr val="F4F4FF"/>
          </a:solidFill>
          <a:ln w="9525">
            <a:solidFill>
              <a:srgbClr val="D9DA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2"/>
          <p:cNvSpPr/>
          <p:nvPr/>
        </p:nvSpPr>
        <p:spPr>
          <a:xfrm>
            <a:off x="9299448" y="1399032"/>
            <a:ext cx="2322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and folder metadata</a:t>
            </a:r>
            <a:endParaRPr lang="en-US" sz="750" dirty="0"/>
          </a:p>
          <a:p>
            <a:pPr marL="0" indent="0">
              <a:buNone/>
            </a:pPr>
            <a:r>
              <a:rPr lang="en-US" sz="650" dirty="0">
                <a:solidFill>
                  <a:srgbClr val="6B7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navigation, validation state</a:t>
            </a:r>
            <a:endParaRPr lang="en-US" sz="750" dirty="0"/>
          </a:p>
        </p:txBody>
      </p:sp>
      <p:sp>
        <p:nvSpPr>
          <p:cNvPr id="48" name="Shape 43"/>
          <p:cNvSpPr/>
          <p:nvPr/>
        </p:nvSpPr>
        <p:spPr>
          <a:xfrm>
            <a:off x="9226296" y="1728216"/>
            <a:ext cx="2468880" cy="292608"/>
          </a:xfrm>
          <a:prstGeom prst="roundRect">
            <a:avLst>
              <a:gd name="adj" fmla="val 9375"/>
            </a:avLst>
          </a:prstGeom>
          <a:solidFill>
            <a:srgbClr val="F4F4FF"/>
          </a:solidFill>
          <a:ln w="9525">
            <a:solidFill>
              <a:srgbClr val="D9DA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4"/>
          <p:cNvSpPr/>
          <p:nvPr/>
        </p:nvSpPr>
        <p:spPr>
          <a:xfrm>
            <a:off x="9299448" y="1728216"/>
            <a:ext cx="2322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· scope · boundaries</a:t>
            </a:r>
            <a:endParaRPr lang="en-US" sz="750" dirty="0"/>
          </a:p>
          <a:p>
            <a:pPr marL="0" indent="0">
              <a:buNone/>
            </a:pPr>
            <a:r>
              <a:rPr lang="en-US" sz="650" dirty="0">
                <a:solidFill>
                  <a:srgbClr val="6B7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may change autonomously</a:t>
            </a:r>
            <a:endParaRPr lang="en-US" sz="750" dirty="0"/>
          </a:p>
        </p:txBody>
      </p:sp>
      <p:sp>
        <p:nvSpPr>
          <p:cNvPr id="50" name="Shape 45"/>
          <p:cNvSpPr/>
          <p:nvPr/>
        </p:nvSpPr>
        <p:spPr>
          <a:xfrm>
            <a:off x="9226296" y="2057400"/>
            <a:ext cx="2468880" cy="292608"/>
          </a:xfrm>
          <a:prstGeom prst="roundRect">
            <a:avLst>
              <a:gd name="adj" fmla="val 9375"/>
            </a:avLst>
          </a:prstGeom>
          <a:solidFill>
            <a:srgbClr val="F4F4FF"/>
          </a:solidFill>
          <a:ln w="9525">
            <a:solidFill>
              <a:srgbClr val="D9DA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6"/>
          <p:cNvSpPr/>
          <p:nvPr/>
        </p:nvSpPr>
        <p:spPr>
          <a:xfrm>
            <a:off x="9299448" y="2057400"/>
            <a:ext cx="2322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 + rationale</a:t>
            </a:r>
            <a:endParaRPr lang="en-US" sz="750" dirty="0"/>
          </a:p>
          <a:p>
            <a:pPr marL="0" indent="0">
              <a:buNone/>
            </a:pPr>
            <a:r>
              <a:rPr lang="en-US" sz="650" dirty="0">
                <a:solidFill>
                  <a:srgbClr val="6B7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invariants behind each change</a:t>
            </a:r>
            <a:endParaRPr lang="en-US" sz="750" dirty="0"/>
          </a:p>
        </p:txBody>
      </p:sp>
      <p:sp>
        <p:nvSpPr>
          <p:cNvPr id="52" name="Shape 47"/>
          <p:cNvSpPr/>
          <p:nvPr/>
        </p:nvSpPr>
        <p:spPr>
          <a:xfrm>
            <a:off x="9098280" y="2606040"/>
            <a:ext cx="2724912" cy="3017520"/>
          </a:xfrm>
          <a:prstGeom prst="roundRect">
            <a:avLst>
              <a:gd name="adj" fmla="val 2013"/>
            </a:avLst>
          </a:prstGeom>
          <a:solidFill>
            <a:srgbClr val="FFFFFF"/>
          </a:solidFill>
          <a:ln w="15875">
            <a:solidFill>
              <a:srgbClr val="1596A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3" name="Text 48"/>
          <p:cNvSpPr/>
          <p:nvPr/>
        </p:nvSpPr>
        <p:spPr>
          <a:xfrm>
            <a:off x="9226296" y="269748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96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SOURCES</a:t>
            </a:r>
            <a:endParaRPr lang="en-US" sz="1100" dirty="0"/>
          </a:p>
        </p:txBody>
      </p:sp>
      <p:sp>
        <p:nvSpPr>
          <p:cNvPr id="54" name="Text 49"/>
          <p:cNvSpPr/>
          <p:nvPr/>
        </p:nvSpPr>
        <p:spPr>
          <a:xfrm>
            <a:off x="9226296" y="2898648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B7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meet, normalised into one corpus</a:t>
            </a:r>
            <a:endParaRPr lang="en-US" sz="700" dirty="0"/>
          </a:p>
        </p:txBody>
      </p:sp>
      <p:sp>
        <p:nvSpPr>
          <p:cNvPr id="55" name="Shape 50"/>
          <p:cNvSpPr/>
          <p:nvPr/>
        </p:nvSpPr>
        <p:spPr>
          <a:xfrm>
            <a:off x="9226296" y="3108960"/>
            <a:ext cx="2468880" cy="420624"/>
          </a:xfrm>
          <a:prstGeom prst="roundRect">
            <a:avLst>
              <a:gd name="adj" fmla="val 8696"/>
            </a:avLst>
          </a:prstGeom>
          <a:solidFill>
            <a:srgbClr val="EFF8FA"/>
          </a:solidFill>
          <a:ln w="9525">
            <a:solidFill>
              <a:srgbClr val="C6E3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36024" y="3232404"/>
            <a:ext cx="173736" cy="173736"/>
          </a:xfrm>
          <a:prstGeom prst="rect">
            <a:avLst/>
          </a:prstGeom>
        </p:spPr>
      </p:pic>
      <p:sp>
        <p:nvSpPr>
          <p:cNvPr id="57" name="Text 51"/>
          <p:cNvSpPr/>
          <p:nvPr/>
        </p:nvSpPr>
        <p:spPr>
          <a:xfrm>
            <a:off x="9592056" y="3108960"/>
            <a:ext cx="2084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&amp; newsletters</a:t>
            </a:r>
            <a:endParaRPr lang="en-US" sz="800" dirty="0"/>
          </a:p>
          <a:p>
            <a:pPr marL="0" indent="0">
              <a:buNone/>
            </a:pPr>
            <a:r>
              <a:rPr lang="en-US" sz="650" dirty="0">
                <a:solidFill>
                  <a:srgbClr val="6B7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RSS/Atom, release notes</a:t>
            </a:r>
            <a:endParaRPr lang="en-US" sz="800" dirty="0"/>
          </a:p>
        </p:txBody>
      </p:sp>
      <p:sp>
        <p:nvSpPr>
          <p:cNvPr id="58" name="Shape 52"/>
          <p:cNvSpPr/>
          <p:nvPr/>
        </p:nvSpPr>
        <p:spPr>
          <a:xfrm>
            <a:off x="9226296" y="3593592"/>
            <a:ext cx="2468880" cy="420624"/>
          </a:xfrm>
          <a:prstGeom prst="roundRect">
            <a:avLst>
              <a:gd name="adj" fmla="val 8696"/>
            </a:avLst>
          </a:prstGeom>
          <a:solidFill>
            <a:srgbClr val="EFF8FA"/>
          </a:solidFill>
          <a:ln w="9525">
            <a:solidFill>
              <a:srgbClr val="C6E3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36024" y="3717036"/>
            <a:ext cx="173736" cy="173736"/>
          </a:xfrm>
          <a:prstGeom prst="rect">
            <a:avLst/>
          </a:prstGeom>
        </p:spPr>
      </p:pic>
      <p:sp>
        <p:nvSpPr>
          <p:cNvPr id="60" name="Text 53"/>
          <p:cNvSpPr/>
          <p:nvPr/>
        </p:nvSpPr>
        <p:spPr>
          <a:xfrm>
            <a:off x="9592056" y="3593592"/>
            <a:ext cx="2084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Conferences &amp; events</a:t>
            </a:r>
            <a:endParaRPr lang="en-US" sz="800" dirty="0"/>
          </a:p>
          <a:p>
            <a:pPr marL="0" indent="0">
              <a:buNone/>
            </a:pPr>
            <a:r>
              <a:rPr lang="en-US" sz="650" dirty="0">
                <a:solidFill>
                  <a:srgbClr val="6B7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catalogs, slides, proceedings</a:t>
            </a:r>
            <a:endParaRPr lang="en-US" sz="800" dirty="0"/>
          </a:p>
        </p:txBody>
      </p:sp>
      <p:sp>
        <p:nvSpPr>
          <p:cNvPr id="61" name="Shape 54"/>
          <p:cNvSpPr/>
          <p:nvPr/>
        </p:nvSpPr>
        <p:spPr>
          <a:xfrm>
            <a:off x="9226296" y="4078224"/>
            <a:ext cx="2468880" cy="420624"/>
          </a:xfrm>
          <a:prstGeom prst="roundRect">
            <a:avLst>
              <a:gd name="adj" fmla="val 8696"/>
            </a:avLst>
          </a:prstGeom>
          <a:solidFill>
            <a:srgbClr val="EFF8FA"/>
          </a:solidFill>
          <a:ln w="9525">
            <a:solidFill>
              <a:srgbClr val="C6E3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6024" y="4201668"/>
            <a:ext cx="173736" cy="173736"/>
          </a:xfrm>
          <a:prstGeom prst="rect">
            <a:avLst/>
          </a:prstGeom>
        </p:spPr>
      </p:pic>
      <p:sp>
        <p:nvSpPr>
          <p:cNvPr id="63" name="Text 55"/>
          <p:cNvSpPr/>
          <p:nvPr/>
        </p:nvSpPr>
        <p:spPr>
          <a:xfrm>
            <a:off x="9592056" y="4078224"/>
            <a:ext cx="2084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Meetings &amp; talks</a:t>
            </a:r>
            <a:endParaRPr lang="en-US" sz="800" dirty="0"/>
          </a:p>
          <a:p>
            <a:pPr marL="0" indent="0">
              <a:buNone/>
            </a:pPr>
            <a:r>
              <a:rPr lang="en-US" sz="650" dirty="0">
                <a:solidFill>
                  <a:srgbClr val="6B7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transcripts, recordings</a:t>
            </a:r>
            <a:endParaRPr lang="en-US" sz="800" dirty="0"/>
          </a:p>
        </p:txBody>
      </p:sp>
      <p:sp>
        <p:nvSpPr>
          <p:cNvPr id="64" name="Shape 56"/>
          <p:cNvSpPr/>
          <p:nvPr/>
        </p:nvSpPr>
        <p:spPr>
          <a:xfrm>
            <a:off x="9226296" y="4562856"/>
            <a:ext cx="2468880" cy="420624"/>
          </a:xfrm>
          <a:prstGeom prst="roundRect">
            <a:avLst>
              <a:gd name="adj" fmla="val 8696"/>
            </a:avLst>
          </a:prstGeom>
          <a:solidFill>
            <a:srgbClr val="EFF8FA"/>
          </a:solidFill>
          <a:ln w="9525">
            <a:solidFill>
              <a:srgbClr val="C6E3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36024" y="4686300"/>
            <a:ext cx="173736" cy="173736"/>
          </a:xfrm>
          <a:prstGeom prst="rect">
            <a:avLst/>
          </a:prstGeom>
        </p:spPr>
      </p:pic>
      <p:sp>
        <p:nvSpPr>
          <p:cNvPr id="66" name="Text 57"/>
          <p:cNvSpPr/>
          <p:nvPr/>
        </p:nvSpPr>
        <p:spPr>
          <a:xfrm>
            <a:off x="9592056" y="4562856"/>
            <a:ext cx="2084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Papers, reports, vendor docs</a:t>
            </a:r>
            <a:endParaRPr lang="en-US" sz="800" dirty="0"/>
          </a:p>
          <a:p>
            <a:pPr marL="0" indent="0">
              <a:buNone/>
            </a:pPr>
            <a:r>
              <a:rPr lang="en-US" sz="650" dirty="0">
                <a:solidFill>
                  <a:srgbClr val="6B7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deep sources</a:t>
            </a:r>
            <a:endParaRPr lang="en-US" sz="800" dirty="0"/>
          </a:p>
        </p:txBody>
      </p:sp>
      <p:sp>
        <p:nvSpPr>
          <p:cNvPr id="67" name="Shape 58"/>
          <p:cNvSpPr/>
          <p:nvPr/>
        </p:nvSpPr>
        <p:spPr>
          <a:xfrm>
            <a:off x="9226296" y="5047488"/>
            <a:ext cx="2468880" cy="420624"/>
          </a:xfrm>
          <a:prstGeom prst="roundRect">
            <a:avLst>
              <a:gd name="adj" fmla="val 8696"/>
            </a:avLst>
          </a:prstGeom>
          <a:solidFill>
            <a:srgbClr val="EFF8FA"/>
          </a:solidFill>
          <a:ln w="9525">
            <a:solidFill>
              <a:srgbClr val="C6E3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8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36024" y="5170932"/>
            <a:ext cx="173736" cy="173736"/>
          </a:xfrm>
          <a:prstGeom prst="rect">
            <a:avLst/>
          </a:prstGeom>
        </p:spPr>
      </p:pic>
      <p:sp>
        <p:nvSpPr>
          <p:cNvPr id="69" name="Text 59"/>
          <p:cNvSpPr/>
          <p:nvPr/>
        </p:nvSpPr>
        <p:spPr>
          <a:xfrm>
            <a:off x="9592056" y="5047488"/>
            <a:ext cx="2084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work</a:t>
            </a:r>
            <a:endParaRPr lang="en-US" sz="800" dirty="0"/>
          </a:p>
          <a:p>
            <a:pPr marL="0" indent="0">
              <a:buNone/>
            </a:pPr>
            <a:r>
              <a:rPr lang="en-US" sz="650" dirty="0">
                <a:solidFill>
                  <a:srgbClr val="6B7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notes, experiments, corrections</a:t>
            </a:r>
            <a:endParaRPr lang="en-US" sz="800" dirty="0"/>
          </a:p>
        </p:txBody>
      </p:sp>
      <p:sp>
        <p:nvSpPr>
          <p:cNvPr id="70" name="Shape 60"/>
          <p:cNvSpPr/>
          <p:nvPr/>
        </p:nvSpPr>
        <p:spPr>
          <a:xfrm>
            <a:off x="9098280" y="5806440"/>
            <a:ext cx="2724912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6DFEC"/>
            </a:solidFill>
            <a:prstDash val="solid"/>
          </a:ln>
          <a:effectLst>
            <a:outerShdw blurRad="63500" dist="127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1" name="Text 61"/>
          <p:cNvSpPr/>
          <p:nvPr/>
        </p:nvSpPr>
        <p:spPr>
          <a:xfrm>
            <a:off x="9226296" y="5861304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6B7A9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SELF-UPDATE LOOPS</a:t>
            </a:r>
            <a:endParaRPr lang="en-US" sz="800" dirty="0"/>
          </a:p>
        </p:txBody>
      </p:sp>
      <p:sp>
        <p:nvSpPr>
          <p:cNvPr id="72" name="Shape 62"/>
          <p:cNvSpPr/>
          <p:nvPr/>
        </p:nvSpPr>
        <p:spPr>
          <a:xfrm>
            <a:off x="9244584" y="6094476"/>
            <a:ext cx="182880" cy="68580"/>
          </a:xfrm>
          <a:prstGeom prst="rect">
            <a:avLst/>
          </a:prstGeom>
          <a:solidFill>
            <a:srgbClr val="D6467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63"/>
          <p:cNvSpPr/>
          <p:nvPr/>
        </p:nvSpPr>
        <p:spPr>
          <a:xfrm>
            <a:off x="9500616" y="6053328"/>
            <a:ext cx="2194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prompt-engineering artifacts</a:t>
            </a:r>
            <a:endParaRPr lang="en-US" sz="750" dirty="0"/>
          </a:p>
        </p:txBody>
      </p:sp>
      <p:sp>
        <p:nvSpPr>
          <p:cNvPr id="74" name="Shape 64"/>
          <p:cNvSpPr/>
          <p:nvPr/>
        </p:nvSpPr>
        <p:spPr>
          <a:xfrm>
            <a:off x="9244584" y="6249924"/>
            <a:ext cx="182880" cy="68580"/>
          </a:xfrm>
          <a:prstGeom prst="rect">
            <a:avLst/>
          </a:prstGeom>
          <a:solidFill>
            <a:srgbClr val="2FA37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65"/>
          <p:cNvSpPr/>
          <p:nvPr/>
        </p:nvSpPr>
        <p:spPr>
          <a:xfrm>
            <a:off x="9500616" y="6208776"/>
            <a:ext cx="2194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information</a:t>
            </a:r>
            <a:endParaRPr lang="en-US" sz="750" dirty="0"/>
          </a:p>
        </p:txBody>
      </p:sp>
      <p:sp>
        <p:nvSpPr>
          <p:cNvPr id="76" name="Shape 66"/>
          <p:cNvSpPr/>
          <p:nvPr/>
        </p:nvSpPr>
        <p:spPr>
          <a:xfrm>
            <a:off x="9244584" y="6405372"/>
            <a:ext cx="182880" cy="68580"/>
          </a:xfrm>
          <a:prstGeom prst="rect">
            <a:avLst/>
          </a:prstGeom>
          <a:solidFill>
            <a:srgbClr val="E08A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67"/>
          <p:cNvSpPr/>
          <p:nvPr/>
        </p:nvSpPr>
        <p:spPr>
          <a:xfrm>
            <a:off x="9500616" y="6364224"/>
            <a:ext cx="2194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articles</a:t>
            </a:r>
            <a:endParaRPr lang="en-US" sz="750" dirty="0"/>
          </a:p>
        </p:txBody>
      </p:sp>
      <p:sp>
        <p:nvSpPr>
          <p:cNvPr id="78" name="Shape 68"/>
          <p:cNvSpPr/>
          <p:nvPr/>
        </p:nvSpPr>
        <p:spPr>
          <a:xfrm>
            <a:off x="411480" y="2606040"/>
            <a:ext cx="8138160" cy="3931920"/>
          </a:xfrm>
          <a:prstGeom prst="roundRect">
            <a:avLst>
              <a:gd name="adj" fmla="val 1163"/>
            </a:avLst>
          </a:prstGeom>
          <a:solidFill>
            <a:srgbClr val="1B2A5B"/>
          </a:solidFill>
          <a:ln w="12700">
            <a:solidFill>
              <a:srgbClr val="333333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9" name="Text 69"/>
          <p:cNvSpPr/>
          <p:nvPr/>
        </p:nvSpPr>
        <p:spPr>
          <a:xfrm>
            <a:off x="1252728" y="26974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HUB</a:t>
            </a:r>
            <a:endParaRPr lang="en-US" sz="1200" dirty="0"/>
          </a:p>
        </p:txBody>
      </p:sp>
      <p:sp>
        <p:nvSpPr>
          <p:cNvPr id="80" name="Text 70"/>
          <p:cNvSpPr/>
          <p:nvPr/>
        </p:nvSpPr>
        <p:spPr>
          <a:xfrm>
            <a:off x="2734056" y="270662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AFB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governed corpus — delivered live, kept current</a:t>
            </a:r>
            <a:endParaRPr lang="en-US" sz="800" dirty="0"/>
          </a:p>
        </p:txBody>
      </p:sp>
      <p:sp>
        <p:nvSpPr>
          <p:cNvPr id="81" name="Shape 71"/>
          <p:cNvSpPr/>
          <p:nvPr/>
        </p:nvSpPr>
        <p:spPr>
          <a:xfrm>
            <a:off x="1252728" y="2999232"/>
            <a:ext cx="6858000" cy="731520"/>
          </a:xfrm>
          <a:prstGeom prst="roundRect">
            <a:avLst>
              <a:gd name="adj" fmla="val 5000"/>
            </a:avLst>
          </a:prstGeom>
          <a:solidFill>
            <a:srgbClr val="27376C"/>
          </a:solidFill>
          <a:ln w="9525">
            <a:solidFill>
              <a:srgbClr val="4452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72"/>
          <p:cNvSpPr/>
          <p:nvPr/>
        </p:nvSpPr>
        <p:spPr>
          <a:xfrm>
            <a:off x="1252728" y="3054096"/>
            <a:ext cx="41148" cy="274320"/>
          </a:xfrm>
          <a:prstGeom prst="rect">
            <a:avLst/>
          </a:prstGeom>
          <a:solidFill>
            <a:srgbClr val="8FB4E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73"/>
          <p:cNvSpPr/>
          <p:nvPr/>
        </p:nvSpPr>
        <p:spPr>
          <a:xfrm>
            <a:off x="1380744" y="3044952"/>
            <a:ext cx="6601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RENDERING</a:t>
            </a:r>
            <a:r>
              <a:rPr lang="en-US" sz="750" dirty="0">
                <a:solidFill>
                  <a:srgbClr val="AFBE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dynamic — no build step, publish is immediate</a:t>
            </a:r>
            <a:endParaRPr lang="en-US" sz="950" dirty="0"/>
          </a:p>
        </p:txBody>
      </p:sp>
      <p:sp>
        <p:nvSpPr>
          <p:cNvPr id="84" name="Shape 74"/>
          <p:cNvSpPr/>
          <p:nvPr/>
        </p:nvSpPr>
        <p:spPr>
          <a:xfrm>
            <a:off x="1380744" y="3364992"/>
            <a:ext cx="2127504" cy="292608"/>
          </a:xfrm>
          <a:prstGeom prst="roundRect">
            <a:avLst>
              <a:gd name="adj" fmla="val 9375"/>
            </a:avLst>
          </a:prstGeom>
          <a:solidFill>
            <a:srgbClr val="33437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75"/>
          <p:cNvSpPr/>
          <p:nvPr/>
        </p:nvSpPr>
        <p:spPr>
          <a:xfrm>
            <a:off x="1453896" y="3364992"/>
            <a:ext cx="198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renderer  </a:t>
            </a:r>
            <a:r>
              <a:rPr lang="en-US" sz="650" dirty="0">
                <a:solidFill>
                  <a:srgbClr val="B9C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to HTML on demand</a:t>
            </a:r>
            <a:endParaRPr lang="en-US" sz="750" dirty="0"/>
          </a:p>
        </p:txBody>
      </p:sp>
      <p:sp>
        <p:nvSpPr>
          <p:cNvPr id="86" name="Shape 76"/>
          <p:cNvSpPr/>
          <p:nvPr/>
        </p:nvSpPr>
        <p:spPr>
          <a:xfrm>
            <a:off x="3617976" y="3364992"/>
            <a:ext cx="2127504" cy="292608"/>
          </a:xfrm>
          <a:prstGeom prst="roundRect">
            <a:avLst>
              <a:gd name="adj" fmla="val 9375"/>
            </a:avLst>
          </a:prstGeom>
          <a:solidFill>
            <a:srgbClr val="33437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77"/>
          <p:cNvSpPr/>
          <p:nvPr/>
        </p:nvSpPr>
        <p:spPr>
          <a:xfrm>
            <a:off x="3691128" y="3364992"/>
            <a:ext cx="198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navigation  </a:t>
            </a:r>
            <a:r>
              <a:rPr lang="en-US" sz="650" dirty="0">
                <a:solidFill>
                  <a:srgbClr val="B9C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live from the hierarchy</a:t>
            </a:r>
            <a:endParaRPr lang="en-US" sz="750" dirty="0"/>
          </a:p>
        </p:txBody>
      </p:sp>
      <p:sp>
        <p:nvSpPr>
          <p:cNvPr id="88" name="Shape 78"/>
          <p:cNvSpPr/>
          <p:nvPr/>
        </p:nvSpPr>
        <p:spPr>
          <a:xfrm>
            <a:off x="5855208" y="3364992"/>
            <a:ext cx="2127504" cy="292608"/>
          </a:xfrm>
          <a:prstGeom prst="roundRect">
            <a:avLst>
              <a:gd name="adj" fmla="val 9375"/>
            </a:avLst>
          </a:prstGeom>
          <a:solidFill>
            <a:srgbClr val="33437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79"/>
          <p:cNvSpPr/>
          <p:nvPr/>
        </p:nvSpPr>
        <p:spPr>
          <a:xfrm>
            <a:off x="5928360" y="3364992"/>
            <a:ext cx="198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next request  </a:t>
            </a:r>
            <a:r>
              <a:rPr lang="en-US" sz="650" dirty="0">
                <a:solidFill>
                  <a:srgbClr val="B9C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build, no static output</a:t>
            </a:r>
            <a:endParaRPr lang="en-US" sz="750" dirty="0"/>
          </a:p>
        </p:txBody>
      </p:sp>
      <p:sp>
        <p:nvSpPr>
          <p:cNvPr id="90" name="Shape 80"/>
          <p:cNvSpPr/>
          <p:nvPr/>
        </p:nvSpPr>
        <p:spPr>
          <a:xfrm>
            <a:off x="1252728" y="3913632"/>
            <a:ext cx="6858000" cy="1554480"/>
          </a:xfrm>
          <a:prstGeom prst="roundRect">
            <a:avLst>
              <a:gd name="adj" fmla="val 2353"/>
            </a:avLst>
          </a:prstGeom>
          <a:solidFill>
            <a:srgbClr val="27376C"/>
          </a:solidFill>
          <a:ln w="9525">
            <a:solidFill>
              <a:srgbClr val="4452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1"/>
          <p:cNvSpPr/>
          <p:nvPr/>
        </p:nvSpPr>
        <p:spPr>
          <a:xfrm>
            <a:off x="1252728" y="3968496"/>
            <a:ext cx="41148" cy="274320"/>
          </a:xfrm>
          <a:prstGeom prst="rect">
            <a:avLst/>
          </a:prstGeom>
          <a:solidFill>
            <a:srgbClr val="E08A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82"/>
          <p:cNvSpPr/>
          <p:nvPr/>
        </p:nvSpPr>
        <p:spPr>
          <a:xfrm>
            <a:off x="1380744" y="3959352"/>
            <a:ext cx="6601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SELF-UPDATING ARTICLES</a:t>
            </a:r>
            <a:r>
              <a:rPr lang="en-US" sz="750" dirty="0">
                <a:solidFill>
                  <a:srgbClr val="AFBE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Detect → Assess → Propose → Execute, under human governance</a:t>
            </a:r>
            <a:endParaRPr lang="en-US" sz="950" dirty="0"/>
          </a:p>
        </p:txBody>
      </p:sp>
      <p:sp>
        <p:nvSpPr>
          <p:cNvPr id="93" name="Shape 83"/>
          <p:cNvSpPr/>
          <p:nvPr/>
        </p:nvSpPr>
        <p:spPr>
          <a:xfrm>
            <a:off x="1380744" y="4297680"/>
            <a:ext cx="1568196" cy="1042416"/>
          </a:xfrm>
          <a:prstGeom prst="roundRect">
            <a:avLst>
              <a:gd name="adj" fmla="val 3509"/>
            </a:avLst>
          </a:prstGeom>
          <a:solidFill>
            <a:srgbClr val="33437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84"/>
          <p:cNvSpPr/>
          <p:nvPr/>
        </p:nvSpPr>
        <p:spPr>
          <a:xfrm>
            <a:off x="1380744" y="4297680"/>
            <a:ext cx="1568196" cy="41148"/>
          </a:xfrm>
          <a:prstGeom prst="rect">
            <a:avLst/>
          </a:prstGeom>
          <a:solidFill>
            <a:srgbClr val="8FB4E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 85"/>
          <p:cNvSpPr/>
          <p:nvPr/>
        </p:nvSpPr>
        <p:spPr>
          <a:xfrm>
            <a:off x="1463040" y="4379976"/>
            <a:ext cx="14036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Deterministic · Tier 0</a:t>
            </a:r>
            <a:endParaRPr lang="en-US" sz="800" dirty="0"/>
          </a:p>
        </p:txBody>
      </p:sp>
      <p:sp>
        <p:nvSpPr>
          <p:cNvPr id="96" name="Text 86"/>
          <p:cNvSpPr/>
          <p:nvPr/>
        </p:nvSpPr>
        <p:spPr>
          <a:xfrm>
            <a:off x="1463040" y="4572000"/>
            <a:ext cx="143103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650" dirty="0">
                <a:solidFill>
                  <a:srgbClr val="C3C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freshness scoring</a:t>
            </a:r>
            <a:endParaRPr lang="en-US" sz="650" dirty="0"/>
          </a:p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650" dirty="0">
                <a:solidFill>
                  <a:srgbClr val="C3C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and cross-reference checks</a:t>
            </a:r>
            <a:endParaRPr lang="en-US" sz="650" dirty="0"/>
          </a:p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650" dirty="0">
                <a:solidFill>
                  <a:srgbClr val="C3C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/ structure guards</a:t>
            </a:r>
            <a:endParaRPr lang="en-US" sz="650" dirty="0"/>
          </a:p>
        </p:txBody>
      </p:sp>
      <p:sp>
        <p:nvSpPr>
          <p:cNvPr id="97" name="Shape 87"/>
          <p:cNvSpPr/>
          <p:nvPr/>
        </p:nvSpPr>
        <p:spPr>
          <a:xfrm>
            <a:off x="3058668" y="4297680"/>
            <a:ext cx="1568196" cy="1042416"/>
          </a:xfrm>
          <a:prstGeom prst="roundRect">
            <a:avLst>
              <a:gd name="adj" fmla="val 3509"/>
            </a:avLst>
          </a:prstGeom>
          <a:solidFill>
            <a:srgbClr val="33437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88"/>
          <p:cNvSpPr/>
          <p:nvPr/>
        </p:nvSpPr>
        <p:spPr>
          <a:xfrm>
            <a:off x="3058668" y="4297680"/>
            <a:ext cx="1568196" cy="41148"/>
          </a:xfrm>
          <a:prstGeom prst="rect">
            <a:avLst/>
          </a:prstGeom>
          <a:solidFill>
            <a:srgbClr val="D6467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Text 89"/>
          <p:cNvSpPr/>
          <p:nvPr/>
        </p:nvSpPr>
        <p:spPr>
          <a:xfrm>
            <a:off x="3140964" y="4379976"/>
            <a:ext cx="14036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AI-driven · Tier 1–2</a:t>
            </a:r>
            <a:endParaRPr lang="en-US" sz="800" dirty="0"/>
          </a:p>
        </p:txBody>
      </p:sp>
      <p:sp>
        <p:nvSpPr>
          <p:cNvPr id="100" name="Text 90"/>
          <p:cNvSpPr/>
          <p:nvPr/>
        </p:nvSpPr>
        <p:spPr>
          <a:xfrm>
            <a:off x="3140964" y="4572000"/>
            <a:ext cx="143103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650" dirty="0">
                <a:solidFill>
                  <a:srgbClr val="C3C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verification vs sources</a:t>
            </a:r>
            <a:endParaRPr lang="en-US" sz="650" dirty="0"/>
          </a:p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650" dirty="0">
                <a:solidFill>
                  <a:srgbClr val="C3C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and gap assessment</a:t>
            </a:r>
            <a:endParaRPr lang="en-US" sz="650" dirty="0"/>
          </a:p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650" dirty="0">
                <a:solidFill>
                  <a:srgbClr val="C3C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readability, domain expertise</a:t>
            </a:r>
            <a:endParaRPr lang="en-US" sz="650" dirty="0"/>
          </a:p>
        </p:txBody>
      </p:sp>
      <p:sp>
        <p:nvSpPr>
          <p:cNvPr id="101" name="Shape 91"/>
          <p:cNvSpPr/>
          <p:nvPr/>
        </p:nvSpPr>
        <p:spPr>
          <a:xfrm>
            <a:off x="4736592" y="4297680"/>
            <a:ext cx="1568196" cy="1042416"/>
          </a:xfrm>
          <a:prstGeom prst="roundRect">
            <a:avLst>
              <a:gd name="adj" fmla="val 3509"/>
            </a:avLst>
          </a:prstGeom>
          <a:solidFill>
            <a:srgbClr val="33437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92"/>
          <p:cNvSpPr/>
          <p:nvPr/>
        </p:nvSpPr>
        <p:spPr>
          <a:xfrm>
            <a:off x="4736592" y="4297680"/>
            <a:ext cx="1568196" cy="41148"/>
          </a:xfrm>
          <a:prstGeom prst="rect">
            <a:avLst/>
          </a:prstGeom>
          <a:solidFill>
            <a:srgbClr val="E08A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Text 93"/>
          <p:cNvSpPr/>
          <p:nvPr/>
        </p:nvSpPr>
        <p:spPr>
          <a:xfrm>
            <a:off x="4818888" y="4379976"/>
            <a:ext cx="14036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 &amp; critical</a:t>
            </a:r>
            <a:endParaRPr lang="en-US" sz="800" dirty="0"/>
          </a:p>
        </p:txBody>
      </p:sp>
      <p:sp>
        <p:nvSpPr>
          <p:cNvPr id="104" name="Text 94"/>
          <p:cNvSpPr/>
          <p:nvPr/>
        </p:nvSpPr>
        <p:spPr>
          <a:xfrm>
            <a:off x="4818888" y="4572000"/>
            <a:ext cx="143103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650" dirty="0">
                <a:solidFill>
                  <a:srgbClr val="C3C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review of claims</a:t>
            </a:r>
            <a:endParaRPr lang="en-US" sz="650" dirty="0"/>
          </a:p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650" dirty="0">
                <a:solidFill>
                  <a:srgbClr val="C3C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development of argument</a:t>
            </a:r>
            <a:endParaRPr lang="en-US" sz="650" dirty="0"/>
          </a:p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650" dirty="0">
                <a:solidFill>
                  <a:srgbClr val="C3C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clarity, consistency, gap removal</a:t>
            </a:r>
            <a:endParaRPr lang="en-US" sz="650" dirty="0"/>
          </a:p>
        </p:txBody>
      </p:sp>
      <p:sp>
        <p:nvSpPr>
          <p:cNvPr id="105" name="Shape 95"/>
          <p:cNvSpPr/>
          <p:nvPr/>
        </p:nvSpPr>
        <p:spPr>
          <a:xfrm>
            <a:off x="6414516" y="4297680"/>
            <a:ext cx="1568196" cy="1042416"/>
          </a:xfrm>
          <a:prstGeom prst="roundRect">
            <a:avLst>
              <a:gd name="adj" fmla="val 3509"/>
            </a:avLst>
          </a:prstGeom>
          <a:solidFill>
            <a:srgbClr val="33437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96"/>
          <p:cNvSpPr/>
          <p:nvPr/>
        </p:nvSpPr>
        <p:spPr>
          <a:xfrm>
            <a:off x="6414516" y="4297680"/>
            <a:ext cx="1568196" cy="41148"/>
          </a:xfrm>
          <a:prstGeom prst="rect">
            <a:avLst/>
          </a:prstGeom>
          <a:solidFill>
            <a:srgbClr val="2FA37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Text 97"/>
          <p:cNvSpPr/>
          <p:nvPr/>
        </p:nvSpPr>
        <p:spPr>
          <a:xfrm>
            <a:off x="6496812" y="4379976"/>
            <a:ext cx="14036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Research</a:t>
            </a:r>
            <a:endParaRPr lang="en-US" sz="800" dirty="0"/>
          </a:p>
        </p:txBody>
      </p:sp>
      <p:sp>
        <p:nvSpPr>
          <p:cNvPr id="108" name="Text 98"/>
          <p:cNvSpPr/>
          <p:nvPr/>
        </p:nvSpPr>
        <p:spPr>
          <a:xfrm>
            <a:off x="6496812" y="4572000"/>
            <a:ext cx="143103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650" dirty="0">
                <a:solidFill>
                  <a:srgbClr val="C3C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→ Validate → Reason</a:t>
            </a:r>
            <a:endParaRPr lang="en-US" sz="650" dirty="0"/>
          </a:p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650" dirty="0">
                <a:solidFill>
                  <a:srgbClr val="C3C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triangulation (2+)</a:t>
            </a:r>
            <a:endParaRPr lang="en-US" sz="650" dirty="0"/>
          </a:p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650" dirty="0">
                <a:solidFill>
                  <a:srgbClr val="C3C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knowledge-gap analysis</a:t>
            </a:r>
            <a:endParaRPr lang="en-US" sz="650" dirty="0"/>
          </a:p>
        </p:txBody>
      </p:sp>
      <p:sp>
        <p:nvSpPr>
          <p:cNvPr id="109" name="Shape 99"/>
          <p:cNvSpPr/>
          <p:nvPr/>
        </p:nvSpPr>
        <p:spPr>
          <a:xfrm>
            <a:off x="1252728" y="5742432"/>
            <a:ext cx="6858000" cy="713232"/>
          </a:xfrm>
          <a:prstGeom prst="roundRect">
            <a:avLst>
              <a:gd name="adj" fmla="val 5128"/>
            </a:avLst>
          </a:prstGeom>
          <a:solidFill>
            <a:srgbClr val="27376C"/>
          </a:solidFill>
          <a:ln w="9525">
            <a:solidFill>
              <a:srgbClr val="4452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0"/>
          <p:cNvSpPr/>
          <p:nvPr/>
        </p:nvSpPr>
        <p:spPr>
          <a:xfrm>
            <a:off x="1252728" y="5797296"/>
            <a:ext cx="41148" cy="274320"/>
          </a:xfrm>
          <a:prstGeom prst="rect">
            <a:avLst/>
          </a:prstGeom>
          <a:solidFill>
            <a:srgbClr val="2FA37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Text 101"/>
          <p:cNvSpPr/>
          <p:nvPr/>
        </p:nvSpPr>
        <p:spPr>
          <a:xfrm>
            <a:off x="1380744" y="5788152"/>
            <a:ext cx="6601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MULTI-SOURCE STORAGE</a:t>
            </a:r>
            <a:r>
              <a:rPr lang="en-US" sz="750" dirty="0">
                <a:solidFill>
                  <a:srgbClr val="AFBE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where the files reside — public and private, one corpus</a:t>
            </a:r>
            <a:endParaRPr lang="en-US" sz="950" dirty="0"/>
          </a:p>
        </p:txBody>
      </p:sp>
      <p:sp>
        <p:nvSpPr>
          <p:cNvPr id="112" name="Shape 102"/>
          <p:cNvSpPr/>
          <p:nvPr/>
        </p:nvSpPr>
        <p:spPr>
          <a:xfrm>
            <a:off x="1380744" y="6108192"/>
            <a:ext cx="1568196" cy="274320"/>
          </a:xfrm>
          <a:prstGeom prst="roundRect">
            <a:avLst>
              <a:gd name="adj" fmla="val 10000"/>
            </a:avLst>
          </a:prstGeom>
          <a:solidFill>
            <a:srgbClr val="33437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3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53896" y="6176772"/>
            <a:ext cx="137160" cy="137160"/>
          </a:xfrm>
          <a:prstGeom prst="rect">
            <a:avLst/>
          </a:prstGeom>
        </p:spPr>
      </p:pic>
      <p:sp>
        <p:nvSpPr>
          <p:cNvPr id="114" name="Text 103"/>
          <p:cNvSpPr/>
          <p:nvPr/>
        </p:nvSpPr>
        <p:spPr>
          <a:xfrm>
            <a:off x="1636776" y="6108192"/>
            <a:ext cx="10927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GitHub repo</a:t>
            </a:r>
            <a:endParaRPr lang="en-US" sz="700" dirty="0"/>
          </a:p>
        </p:txBody>
      </p:sp>
      <p:pic>
        <p:nvPicPr>
          <p:cNvPr id="115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756916" y="6185916"/>
            <a:ext cx="118872" cy="118872"/>
          </a:xfrm>
          <a:prstGeom prst="rect">
            <a:avLst/>
          </a:prstGeom>
        </p:spPr>
      </p:pic>
      <p:sp>
        <p:nvSpPr>
          <p:cNvPr id="116" name="Shape 104"/>
          <p:cNvSpPr/>
          <p:nvPr/>
        </p:nvSpPr>
        <p:spPr>
          <a:xfrm>
            <a:off x="3058668" y="6108192"/>
            <a:ext cx="1568196" cy="274320"/>
          </a:xfrm>
          <a:prstGeom prst="roundRect">
            <a:avLst>
              <a:gd name="adj" fmla="val 10000"/>
            </a:avLst>
          </a:prstGeom>
          <a:solidFill>
            <a:srgbClr val="33437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7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31820" y="6176772"/>
            <a:ext cx="137160" cy="137160"/>
          </a:xfrm>
          <a:prstGeom prst="rect">
            <a:avLst/>
          </a:prstGeom>
        </p:spPr>
      </p:pic>
      <p:sp>
        <p:nvSpPr>
          <p:cNvPr id="118" name="Text 105"/>
          <p:cNvSpPr/>
          <p:nvPr/>
        </p:nvSpPr>
        <p:spPr>
          <a:xfrm>
            <a:off x="3314700" y="6108192"/>
            <a:ext cx="10927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storage account</a:t>
            </a:r>
            <a:endParaRPr lang="en-US" sz="700" dirty="0"/>
          </a:p>
        </p:txBody>
      </p:sp>
      <p:pic>
        <p:nvPicPr>
          <p:cNvPr id="119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34840" y="6185916"/>
            <a:ext cx="118872" cy="118872"/>
          </a:xfrm>
          <a:prstGeom prst="rect">
            <a:avLst/>
          </a:prstGeom>
        </p:spPr>
      </p:pic>
      <p:sp>
        <p:nvSpPr>
          <p:cNvPr id="120" name="Shape 106"/>
          <p:cNvSpPr/>
          <p:nvPr/>
        </p:nvSpPr>
        <p:spPr>
          <a:xfrm>
            <a:off x="4736592" y="6108192"/>
            <a:ext cx="1568196" cy="274320"/>
          </a:xfrm>
          <a:prstGeom prst="roundRect">
            <a:avLst>
              <a:gd name="adj" fmla="val 10000"/>
            </a:avLst>
          </a:prstGeom>
          <a:solidFill>
            <a:srgbClr val="33437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1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809744" y="6176772"/>
            <a:ext cx="137160" cy="137160"/>
          </a:xfrm>
          <a:prstGeom prst="rect">
            <a:avLst/>
          </a:prstGeom>
        </p:spPr>
      </p:pic>
      <p:sp>
        <p:nvSpPr>
          <p:cNvPr id="122" name="Text 107"/>
          <p:cNvSpPr/>
          <p:nvPr/>
        </p:nvSpPr>
        <p:spPr>
          <a:xfrm>
            <a:off x="4992624" y="6108192"/>
            <a:ext cx="10927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storage account</a:t>
            </a:r>
            <a:endParaRPr lang="en-US" sz="700" dirty="0"/>
          </a:p>
        </p:txBody>
      </p:sp>
      <p:pic>
        <p:nvPicPr>
          <p:cNvPr id="123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112764" y="6185916"/>
            <a:ext cx="118872" cy="118872"/>
          </a:xfrm>
          <a:prstGeom prst="rect">
            <a:avLst/>
          </a:prstGeom>
        </p:spPr>
      </p:pic>
      <p:sp>
        <p:nvSpPr>
          <p:cNvPr id="124" name="Shape 108"/>
          <p:cNvSpPr/>
          <p:nvPr/>
        </p:nvSpPr>
        <p:spPr>
          <a:xfrm>
            <a:off x="6414516" y="6108192"/>
            <a:ext cx="1568196" cy="274320"/>
          </a:xfrm>
          <a:prstGeom prst="roundRect">
            <a:avLst>
              <a:gd name="adj" fmla="val 10000"/>
            </a:avLst>
          </a:prstGeom>
          <a:solidFill>
            <a:srgbClr val="33437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5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87668" y="6176772"/>
            <a:ext cx="137160" cy="137160"/>
          </a:xfrm>
          <a:prstGeom prst="rect">
            <a:avLst/>
          </a:prstGeom>
        </p:spPr>
      </p:pic>
      <p:sp>
        <p:nvSpPr>
          <p:cNvPr id="126" name="Text 109"/>
          <p:cNvSpPr/>
          <p:nvPr/>
        </p:nvSpPr>
        <p:spPr>
          <a:xfrm>
            <a:off x="6670548" y="6108192"/>
            <a:ext cx="10927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OneDrive</a:t>
            </a:r>
            <a:endParaRPr lang="en-US" sz="700" dirty="0"/>
          </a:p>
        </p:txBody>
      </p:sp>
      <p:pic>
        <p:nvPicPr>
          <p:cNvPr id="12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790688" y="6185916"/>
            <a:ext cx="118872" cy="118872"/>
          </a:xfrm>
          <a:prstGeom prst="rect">
            <a:avLst/>
          </a:prstGeom>
        </p:spPr>
      </p:pic>
      <p:sp>
        <p:nvSpPr>
          <p:cNvPr id="128" name="Shape 110"/>
          <p:cNvSpPr/>
          <p:nvPr/>
        </p:nvSpPr>
        <p:spPr>
          <a:xfrm>
            <a:off x="566928" y="2478024"/>
            <a:ext cx="237744" cy="1435608"/>
          </a:xfrm>
          <a:prstGeom prst="upArrow">
            <a:avLst/>
          </a:prstGeom>
          <a:solidFill>
            <a:srgbClr val="D6467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Shape 111"/>
          <p:cNvSpPr/>
          <p:nvPr/>
        </p:nvSpPr>
        <p:spPr>
          <a:xfrm>
            <a:off x="868680" y="2478024"/>
            <a:ext cx="237744" cy="1435608"/>
          </a:xfrm>
          <a:prstGeom prst="upArrow">
            <a:avLst/>
          </a:prstGeom>
          <a:solidFill>
            <a:srgbClr val="2FA37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Text 112"/>
          <p:cNvSpPr/>
          <p:nvPr/>
        </p:nvSpPr>
        <p:spPr>
          <a:xfrm rot="16200000">
            <a:off x="-160020" y="4700016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D646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self-updating prompt engineering</a:t>
            </a:r>
            <a:endParaRPr lang="en-US" sz="650" dirty="0"/>
          </a:p>
        </p:txBody>
      </p:sp>
      <p:sp>
        <p:nvSpPr>
          <p:cNvPr id="131" name="Text 113"/>
          <p:cNvSpPr/>
          <p:nvPr/>
        </p:nvSpPr>
        <p:spPr>
          <a:xfrm rot="16200000">
            <a:off x="141732" y="4700016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2FA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self-updating context information</a:t>
            </a:r>
            <a:endParaRPr lang="en-US" sz="650" dirty="0"/>
          </a:p>
        </p:txBody>
      </p:sp>
      <p:sp>
        <p:nvSpPr>
          <p:cNvPr id="132" name="Shape 114"/>
          <p:cNvSpPr/>
          <p:nvPr/>
        </p:nvSpPr>
        <p:spPr>
          <a:xfrm>
            <a:off x="1527048" y="5486400"/>
            <a:ext cx="274320" cy="237744"/>
          </a:xfrm>
          <a:prstGeom prst="downArrow">
            <a:avLst/>
          </a:prstGeom>
          <a:solidFill>
            <a:srgbClr val="E08A2E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3" name="Text 115"/>
          <p:cNvSpPr/>
          <p:nvPr/>
        </p:nvSpPr>
        <p:spPr>
          <a:xfrm>
            <a:off x="1874520" y="54864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self-updating articles</a:t>
            </a:r>
            <a:endParaRPr lang="en-US" sz="750" dirty="0"/>
          </a:p>
        </p:txBody>
      </p:sp>
      <p:sp>
        <p:nvSpPr>
          <p:cNvPr id="134" name="Shape 116"/>
          <p:cNvSpPr/>
          <p:nvPr/>
        </p:nvSpPr>
        <p:spPr>
          <a:xfrm>
            <a:off x="8202168" y="3822192"/>
            <a:ext cx="219456" cy="1828800"/>
          </a:xfrm>
          <a:prstGeom prst="upArrow">
            <a:avLst/>
          </a:prstGeom>
          <a:solidFill>
            <a:srgbClr val="8FB4E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5" name="Text 117"/>
          <p:cNvSpPr/>
          <p:nvPr/>
        </p:nvSpPr>
        <p:spPr>
          <a:xfrm>
            <a:off x="7232904" y="385876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6E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on demand</a:t>
            </a:r>
            <a:endParaRPr lang="en-US" sz="700" dirty="0"/>
          </a:p>
        </p:txBody>
      </p:sp>
      <p:sp>
        <p:nvSpPr>
          <p:cNvPr id="136" name="Shape 118"/>
          <p:cNvSpPr/>
          <p:nvPr/>
        </p:nvSpPr>
        <p:spPr>
          <a:xfrm>
            <a:off x="8604504" y="3840480"/>
            <a:ext cx="438912" cy="310896"/>
          </a:xfrm>
          <a:prstGeom prst="leftArrow">
            <a:avLst/>
          </a:prstGeom>
          <a:solidFill>
            <a:srgbClr val="1596A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119"/>
          <p:cNvSpPr/>
          <p:nvPr/>
        </p:nvSpPr>
        <p:spPr>
          <a:xfrm>
            <a:off x="8604504" y="1527048"/>
            <a:ext cx="438912" cy="237744"/>
          </a:xfrm>
          <a:prstGeom prst="leftArrow">
            <a:avLst/>
          </a:prstGeom>
          <a:solidFill>
            <a:srgbClr val="6366F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8" name="Shape 120"/>
          <p:cNvSpPr/>
          <p:nvPr/>
        </p:nvSpPr>
        <p:spPr>
          <a:xfrm>
            <a:off x="7818120" y="978408"/>
            <a:ext cx="603504" cy="182880"/>
          </a:xfrm>
          <a:prstGeom prst="roundRect">
            <a:avLst>
              <a:gd name="adj" fmla="val 15000"/>
            </a:avLst>
          </a:prstGeom>
          <a:solidFill>
            <a:srgbClr val="6366F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9" name="Text 121"/>
          <p:cNvSpPr/>
          <p:nvPr/>
        </p:nvSpPr>
        <p:spPr>
          <a:xfrm>
            <a:off x="7818120" y="978408"/>
            <a:ext cx="603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</a:t>
            </a:r>
            <a:endParaRPr lang="en-US" sz="650" dirty="0"/>
          </a:p>
        </p:txBody>
      </p:sp>
      <p:sp>
        <p:nvSpPr>
          <p:cNvPr id="140" name="Shape 122"/>
          <p:cNvSpPr/>
          <p:nvPr/>
        </p:nvSpPr>
        <p:spPr>
          <a:xfrm>
            <a:off x="7397496" y="5824728"/>
            <a:ext cx="603504" cy="182880"/>
          </a:xfrm>
          <a:prstGeom prst="roundRect">
            <a:avLst>
              <a:gd name="adj" fmla="val 15000"/>
            </a:avLst>
          </a:prstGeom>
          <a:solidFill>
            <a:srgbClr val="6366F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1" name="Text 123"/>
          <p:cNvSpPr/>
          <p:nvPr/>
        </p:nvSpPr>
        <p:spPr>
          <a:xfrm>
            <a:off x="7397496" y="5824728"/>
            <a:ext cx="603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334</Words>
  <Application>Microsoft Office PowerPoint</Application>
  <PresentationFormat>Widescreen</PresentationFormat>
  <Paragraphs>79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Trebuchet MS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Learning Hub — self-updating architecture</dc:title>
  <dc:subject>PptxGenJS Presentation</dc:subject>
  <dc:creator>Dario Airoldi</dc:creator>
  <cp:lastModifiedBy>Dario Airoldi</cp:lastModifiedBy>
  <cp:revision>2</cp:revision>
  <dcterms:created xsi:type="dcterms:W3CDTF">2026-08-06T10:46:18Z</dcterms:created>
  <dcterms:modified xsi:type="dcterms:W3CDTF">2026-08-06T12:27:42Z</dcterms:modified>
</cp:coreProperties>
</file>