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2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70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Hub — self-updating architecture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feed the Hub · prompt-engineering artifacts govern it · self-update logic keeps artifacts, context and articles current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1381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DF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987552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960120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 UPDATING PROMPT-ENGINEERING ARTIFACTS</a:t>
            </a:r>
            <a:r>
              <a:rPr lang="en-US" sz="900" dirty="0">
                <a:solidFill>
                  <a:srgbClr val="6B7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the GitHub Copilot customization stack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21208" y="1252728"/>
            <a:ext cx="2331720" cy="1051560"/>
          </a:xfrm>
          <a:prstGeom prst="roundRect">
            <a:avLst>
              <a:gd name="adj" fmla="val 4348"/>
            </a:avLst>
          </a:prstGeom>
          <a:solidFill>
            <a:srgbClr val="F1FAF6"/>
          </a:solidFill>
          <a:ln w="15875">
            <a:solidFill>
              <a:srgbClr val="2FA3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344168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3816" y="1316736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A3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files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21792" y="1508760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information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621792" y="1700784"/>
            <a:ext cx="2130552" cy="1600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E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21792" y="1700784"/>
            <a:ext cx="213055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00.00-prompt-engineering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621792" y="1883664"/>
            <a:ext cx="2130552" cy="1600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E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21792" y="1883664"/>
            <a:ext cx="213055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01.00-article-writing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621792" y="2066544"/>
            <a:ext cx="2130552" cy="1600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E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21792" y="2066544"/>
            <a:ext cx="213055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90.00-learning-hub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2999232" y="1252728"/>
            <a:ext cx="5440680" cy="1051560"/>
          </a:xfrm>
          <a:prstGeom prst="roundRect">
            <a:avLst>
              <a:gd name="adj" fmla="val 4348"/>
            </a:avLst>
          </a:prstGeom>
          <a:solidFill>
            <a:srgbClr val="FDF3F7"/>
          </a:solidFill>
          <a:ln w="15875">
            <a:solidFill>
              <a:srgbClr val="D646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099816" y="13533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118104" y="13533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4430268" y="13533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448556" y="13533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 .instructions.md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5760720" y="13533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779008" y="13533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 .prompt.md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7091172" y="13533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7109460" y="13533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 .agent.md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3099816" y="16581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118104" y="16581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 SKILL.md</a:t>
            </a:r>
            <a:endParaRPr lang="en-US" sz="700" dirty="0"/>
          </a:p>
        </p:txBody>
      </p:sp>
      <p:sp>
        <p:nvSpPr>
          <p:cNvPr id="28" name="Shape 24"/>
          <p:cNvSpPr/>
          <p:nvPr/>
        </p:nvSpPr>
        <p:spPr>
          <a:xfrm>
            <a:off x="4430268" y="16581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448556" y="16581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 lifecycle events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5760720" y="16581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5779008" y="16581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 tools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7091172" y="16581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7109460" y="16581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modes  Agent/Plan/Ask/Edit</a:t>
            </a:r>
            <a:endParaRPr lang="en-US" sz="700" dirty="0"/>
          </a:p>
        </p:txBody>
      </p:sp>
      <p:sp>
        <p:nvSpPr>
          <p:cNvPr id="34" name="Shape 30"/>
          <p:cNvSpPr/>
          <p:nvPr/>
        </p:nvSpPr>
        <p:spPr>
          <a:xfrm>
            <a:off x="3099816" y="19629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3118104" y="19629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700" dirty="0"/>
          </a:p>
        </p:txBody>
      </p:sp>
      <p:sp>
        <p:nvSpPr>
          <p:cNvPr id="36" name="Shape 32"/>
          <p:cNvSpPr/>
          <p:nvPr/>
        </p:nvSpPr>
        <p:spPr>
          <a:xfrm>
            <a:off x="4430268" y="19629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4448556" y="19629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snippets</a:t>
            </a:r>
            <a:endParaRPr lang="en-US" sz="700" dirty="0"/>
          </a:p>
        </p:txBody>
      </p:sp>
      <p:sp>
        <p:nvSpPr>
          <p:cNvPr id="38" name="Shape 34"/>
          <p:cNvSpPr/>
          <p:nvPr/>
        </p:nvSpPr>
        <p:spPr>
          <a:xfrm>
            <a:off x="5760720" y="19629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5779008" y="19629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BYOK</a:t>
            </a:r>
            <a:endParaRPr lang="en-US" sz="700" dirty="0"/>
          </a:p>
        </p:txBody>
      </p:sp>
      <p:sp>
        <p:nvSpPr>
          <p:cNvPr id="40" name="Shape 36"/>
          <p:cNvSpPr/>
          <p:nvPr/>
        </p:nvSpPr>
        <p:spPr>
          <a:xfrm>
            <a:off x="7091172" y="19629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7109460" y="19629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Spaces</a:t>
            </a:r>
            <a:endParaRPr lang="en-US" sz="700" dirty="0"/>
          </a:p>
        </p:txBody>
      </p:sp>
      <p:sp>
        <p:nvSpPr>
          <p:cNvPr id="42" name="Shape 38"/>
          <p:cNvSpPr/>
          <p:nvPr/>
        </p:nvSpPr>
        <p:spPr>
          <a:xfrm>
            <a:off x="9098280" y="868680"/>
            <a:ext cx="272491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6366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6296" y="987552"/>
            <a:ext cx="173736" cy="173736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9464040" y="96012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9226296" y="11978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PE artifacts and articles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9226296" y="1399032"/>
            <a:ext cx="2468880" cy="292608"/>
          </a:xfrm>
          <a:prstGeom prst="roundRect">
            <a:avLst>
              <a:gd name="adj" fmla="val 9375"/>
            </a:avLst>
          </a:prstGeom>
          <a:solidFill>
            <a:srgbClr val="F4F4FF"/>
          </a:solidFill>
          <a:ln w="9525">
            <a:solidFill>
              <a:srgbClr val="D9D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9299448" y="139903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and folder metadata</a:t>
            </a:r>
            <a:endParaRPr lang="en-US" sz="750" dirty="0"/>
          </a:p>
          <a:p>
            <a:pPr marL="0" indent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navigation, validation state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9226296" y="1728216"/>
            <a:ext cx="2468880" cy="292608"/>
          </a:xfrm>
          <a:prstGeom prst="roundRect">
            <a:avLst>
              <a:gd name="adj" fmla="val 9375"/>
            </a:avLst>
          </a:prstGeom>
          <a:solidFill>
            <a:srgbClr val="F4F4FF"/>
          </a:solidFill>
          <a:ln w="9525">
            <a:solidFill>
              <a:srgbClr val="D9D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9299448" y="172821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scope · boundaries</a:t>
            </a:r>
            <a:endParaRPr lang="en-US" sz="750" dirty="0"/>
          </a:p>
          <a:p>
            <a:pPr marL="0" indent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may change autonomously</a:t>
            </a:r>
            <a:endParaRPr lang="en-US" sz="750" dirty="0"/>
          </a:p>
        </p:txBody>
      </p:sp>
      <p:sp>
        <p:nvSpPr>
          <p:cNvPr id="50" name="Shape 45"/>
          <p:cNvSpPr/>
          <p:nvPr/>
        </p:nvSpPr>
        <p:spPr>
          <a:xfrm>
            <a:off x="9226296" y="2057400"/>
            <a:ext cx="2468880" cy="292608"/>
          </a:xfrm>
          <a:prstGeom prst="roundRect">
            <a:avLst>
              <a:gd name="adj" fmla="val 9375"/>
            </a:avLst>
          </a:prstGeom>
          <a:solidFill>
            <a:srgbClr val="F4F4FF"/>
          </a:solidFill>
          <a:ln w="9525">
            <a:solidFill>
              <a:srgbClr val="D9D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9299448" y="205740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+ rationale</a:t>
            </a:r>
            <a:endParaRPr lang="en-US" sz="750" dirty="0"/>
          </a:p>
          <a:p>
            <a:pPr marL="0" indent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invariants behind each change</a:t>
            </a:r>
            <a:endParaRPr lang="en-US" sz="750" dirty="0"/>
          </a:p>
        </p:txBody>
      </p:sp>
      <p:sp>
        <p:nvSpPr>
          <p:cNvPr id="52" name="Shape 47"/>
          <p:cNvSpPr/>
          <p:nvPr/>
        </p:nvSpPr>
        <p:spPr>
          <a:xfrm>
            <a:off x="9098280" y="2606040"/>
            <a:ext cx="2724912" cy="3017520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5875">
            <a:solidFill>
              <a:srgbClr val="1596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48"/>
          <p:cNvSpPr/>
          <p:nvPr/>
        </p:nvSpPr>
        <p:spPr>
          <a:xfrm>
            <a:off x="9226296" y="26974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96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54" name="Text 49"/>
          <p:cNvSpPr/>
          <p:nvPr/>
        </p:nvSpPr>
        <p:spPr>
          <a:xfrm>
            <a:off x="9226296" y="289864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meet — wherever you decide, any medium</a:t>
            </a:r>
            <a:endParaRPr lang="en-US" sz="700" dirty="0"/>
          </a:p>
        </p:txBody>
      </p:sp>
      <p:sp>
        <p:nvSpPr>
          <p:cNvPr id="55" name="Shape 50"/>
          <p:cNvSpPr/>
          <p:nvPr/>
        </p:nvSpPr>
        <p:spPr>
          <a:xfrm>
            <a:off x="9226296" y="3108960"/>
            <a:ext cx="2468880" cy="420624"/>
          </a:xfrm>
          <a:prstGeom prst="roundRect">
            <a:avLst>
              <a:gd name="adj" fmla="val 8696"/>
            </a:avLst>
          </a:prstGeom>
          <a:solidFill>
            <a:srgbClr val="EFF8FA"/>
          </a:solidFill>
          <a:ln w="9525">
            <a:solidFill>
              <a:srgbClr val="C6E3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024" y="3232404"/>
            <a:ext cx="173736" cy="173736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9592056" y="310896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&amp; newsletters</a:t>
            </a:r>
            <a:endParaRPr lang="en-US" sz="800" dirty="0"/>
          </a:p>
          <a:p>
            <a:pPr marL="0" indent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RSS/Atom, release notes</a:t>
            </a:r>
            <a:endParaRPr lang="en-US" sz="800" dirty="0"/>
          </a:p>
        </p:txBody>
      </p:sp>
      <p:sp>
        <p:nvSpPr>
          <p:cNvPr id="58" name="Shape 52"/>
          <p:cNvSpPr/>
          <p:nvPr/>
        </p:nvSpPr>
        <p:spPr>
          <a:xfrm>
            <a:off x="9226296" y="3593592"/>
            <a:ext cx="2468880" cy="420624"/>
          </a:xfrm>
          <a:prstGeom prst="roundRect">
            <a:avLst>
              <a:gd name="adj" fmla="val 8696"/>
            </a:avLst>
          </a:prstGeom>
          <a:solidFill>
            <a:srgbClr val="EFF8FA"/>
          </a:solidFill>
          <a:ln w="9525">
            <a:solidFill>
              <a:srgbClr val="C6E3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024" y="3717036"/>
            <a:ext cx="173736" cy="173736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9592056" y="359359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Conferences &amp; events</a:t>
            </a:r>
            <a:endParaRPr lang="en-US" sz="800" dirty="0"/>
          </a:p>
          <a:p>
            <a:pPr marL="0" indent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catalogs, slides, proceedings</a:t>
            </a:r>
            <a:endParaRPr lang="en-US" sz="800" dirty="0"/>
          </a:p>
        </p:txBody>
      </p:sp>
      <p:sp>
        <p:nvSpPr>
          <p:cNvPr id="61" name="Shape 54"/>
          <p:cNvSpPr/>
          <p:nvPr/>
        </p:nvSpPr>
        <p:spPr>
          <a:xfrm>
            <a:off x="9226296" y="4078224"/>
            <a:ext cx="2468880" cy="420624"/>
          </a:xfrm>
          <a:prstGeom prst="roundRect">
            <a:avLst>
              <a:gd name="adj" fmla="val 8696"/>
            </a:avLst>
          </a:prstGeom>
          <a:solidFill>
            <a:srgbClr val="EFF8FA"/>
          </a:solidFill>
          <a:ln w="9525">
            <a:solidFill>
              <a:srgbClr val="C6E3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24" y="4201668"/>
            <a:ext cx="173736" cy="173736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9592056" y="407822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&amp; talks</a:t>
            </a:r>
            <a:endParaRPr lang="en-US" sz="800" dirty="0"/>
          </a:p>
          <a:p>
            <a:pPr marL="0" indent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transcripts, recordings</a:t>
            </a:r>
            <a:endParaRPr lang="en-US" sz="800" dirty="0"/>
          </a:p>
        </p:txBody>
      </p:sp>
      <p:sp>
        <p:nvSpPr>
          <p:cNvPr id="64" name="Shape 56"/>
          <p:cNvSpPr/>
          <p:nvPr/>
        </p:nvSpPr>
        <p:spPr>
          <a:xfrm>
            <a:off x="9226296" y="4562856"/>
            <a:ext cx="2468880" cy="420624"/>
          </a:xfrm>
          <a:prstGeom prst="roundRect">
            <a:avLst>
              <a:gd name="adj" fmla="val 8696"/>
            </a:avLst>
          </a:prstGeom>
          <a:solidFill>
            <a:srgbClr val="EFF8FA"/>
          </a:solidFill>
          <a:ln w="9525">
            <a:solidFill>
              <a:srgbClr val="C6E3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6024" y="4686300"/>
            <a:ext cx="173736" cy="173736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9592056" y="456285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Papers, reports, vendor docs</a:t>
            </a:r>
            <a:endParaRPr lang="en-US" sz="800" dirty="0"/>
          </a:p>
          <a:p>
            <a:pPr marL="0" indent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deep sources</a:t>
            </a:r>
            <a:endParaRPr lang="en-US" sz="800" dirty="0"/>
          </a:p>
        </p:txBody>
      </p:sp>
      <p:sp>
        <p:nvSpPr>
          <p:cNvPr id="67" name="Shape 58"/>
          <p:cNvSpPr/>
          <p:nvPr/>
        </p:nvSpPr>
        <p:spPr>
          <a:xfrm>
            <a:off x="9226296" y="5047488"/>
            <a:ext cx="2468880" cy="420624"/>
          </a:xfrm>
          <a:prstGeom prst="roundRect">
            <a:avLst>
              <a:gd name="adj" fmla="val 8696"/>
            </a:avLst>
          </a:prstGeom>
          <a:solidFill>
            <a:srgbClr val="EFF8FA"/>
          </a:solidFill>
          <a:ln w="9525">
            <a:solidFill>
              <a:srgbClr val="C6E3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6024" y="5170932"/>
            <a:ext cx="173736" cy="173736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9592056" y="504748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work</a:t>
            </a:r>
            <a:endParaRPr lang="en-US" sz="800" dirty="0"/>
          </a:p>
          <a:p>
            <a:pPr marL="0" indent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experiments, corrections</a:t>
            </a:r>
            <a:endParaRPr lang="en-US" sz="800" dirty="0"/>
          </a:p>
        </p:txBody>
      </p:sp>
      <p:sp>
        <p:nvSpPr>
          <p:cNvPr id="70" name="Shape 60"/>
          <p:cNvSpPr/>
          <p:nvPr/>
        </p:nvSpPr>
        <p:spPr>
          <a:xfrm>
            <a:off x="9098280" y="5806440"/>
            <a:ext cx="272491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6DFE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1"/>
          <p:cNvSpPr/>
          <p:nvPr/>
        </p:nvSpPr>
        <p:spPr>
          <a:xfrm>
            <a:off x="9226296" y="586130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7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SELF-UPDATE LOOPS</a:t>
            </a:r>
            <a:endParaRPr lang="en-US" sz="800" dirty="0"/>
          </a:p>
        </p:txBody>
      </p:sp>
      <p:sp>
        <p:nvSpPr>
          <p:cNvPr id="72" name="Shape 62"/>
          <p:cNvSpPr/>
          <p:nvPr/>
        </p:nvSpPr>
        <p:spPr>
          <a:xfrm>
            <a:off x="9244584" y="6094476"/>
            <a:ext cx="182880" cy="68580"/>
          </a:xfrm>
          <a:prstGeom prst="rect">
            <a:avLst/>
          </a:prstGeom>
          <a:solidFill>
            <a:srgbClr val="D6467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63"/>
          <p:cNvSpPr/>
          <p:nvPr/>
        </p:nvSpPr>
        <p:spPr>
          <a:xfrm>
            <a:off x="9500616" y="60533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prompt-engineering artifacts</a:t>
            </a:r>
            <a:endParaRPr lang="en-US" sz="750" dirty="0"/>
          </a:p>
        </p:txBody>
      </p:sp>
      <p:sp>
        <p:nvSpPr>
          <p:cNvPr id="74" name="Shape 64"/>
          <p:cNvSpPr/>
          <p:nvPr/>
        </p:nvSpPr>
        <p:spPr>
          <a:xfrm>
            <a:off x="9244584" y="6249924"/>
            <a:ext cx="182880" cy="68580"/>
          </a:xfrm>
          <a:prstGeom prst="rect">
            <a:avLst/>
          </a:prstGeom>
          <a:solidFill>
            <a:srgbClr val="2FA3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5"/>
          <p:cNvSpPr/>
          <p:nvPr/>
        </p:nvSpPr>
        <p:spPr>
          <a:xfrm>
            <a:off x="9500616" y="62087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information</a:t>
            </a:r>
            <a:endParaRPr lang="en-US" sz="750" dirty="0"/>
          </a:p>
        </p:txBody>
      </p:sp>
      <p:sp>
        <p:nvSpPr>
          <p:cNvPr id="76" name="Shape 66"/>
          <p:cNvSpPr/>
          <p:nvPr/>
        </p:nvSpPr>
        <p:spPr>
          <a:xfrm>
            <a:off x="9244584" y="6405372"/>
            <a:ext cx="182880" cy="68580"/>
          </a:xfrm>
          <a:prstGeom prst="rect">
            <a:avLst/>
          </a:prstGeom>
          <a:solidFill>
            <a:srgbClr val="E08A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67"/>
          <p:cNvSpPr/>
          <p:nvPr/>
        </p:nvSpPr>
        <p:spPr>
          <a:xfrm>
            <a:off x="9500616" y="636422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750" dirty="0"/>
          </a:p>
        </p:txBody>
      </p:sp>
      <p:sp>
        <p:nvSpPr>
          <p:cNvPr id="78" name="Shape 68"/>
          <p:cNvSpPr/>
          <p:nvPr/>
        </p:nvSpPr>
        <p:spPr>
          <a:xfrm>
            <a:off x="411480" y="2606040"/>
            <a:ext cx="8138160" cy="3931920"/>
          </a:xfrm>
          <a:prstGeom prst="roundRect">
            <a:avLst>
              <a:gd name="adj" fmla="val 1163"/>
            </a:avLst>
          </a:prstGeom>
          <a:solidFill>
            <a:srgbClr val="1B2A5B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Text 69"/>
          <p:cNvSpPr/>
          <p:nvPr/>
        </p:nvSpPr>
        <p:spPr>
          <a:xfrm>
            <a:off x="1252728" y="2697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HUB</a:t>
            </a:r>
            <a:endParaRPr lang="en-US" sz="1200" dirty="0"/>
          </a:p>
        </p:txBody>
      </p:sp>
      <p:sp>
        <p:nvSpPr>
          <p:cNvPr id="80" name="Text 70"/>
          <p:cNvSpPr/>
          <p:nvPr/>
        </p:nvSpPr>
        <p:spPr>
          <a:xfrm>
            <a:off x="2734056" y="27066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AF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knowledge — many sources, one place to think</a:t>
            </a:r>
            <a:endParaRPr lang="en-US" sz="800" dirty="0"/>
          </a:p>
        </p:txBody>
      </p:sp>
      <p:sp>
        <p:nvSpPr>
          <p:cNvPr id="81" name="Shape 71"/>
          <p:cNvSpPr/>
          <p:nvPr/>
        </p:nvSpPr>
        <p:spPr>
          <a:xfrm>
            <a:off x="1252728" y="2999232"/>
            <a:ext cx="6858000" cy="731520"/>
          </a:xfrm>
          <a:prstGeom prst="roundRect">
            <a:avLst>
              <a:gd name="adj" fmla="val 5000"/>
            </a:avLst>
          </a:prstGeom>
          <a:solidFill>
            <a:srgbClr val="27376C"/>
          </a:solidFill>
          <a:ln w="9525">
            <a:solidFill>
              <a:srgbClr val="4452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2"/>
          <p:cNvSpPr/>
          <p:nvPr/>
        </p:nvSpPr>
        <p:spPr>
          <a:xfrm>
            <a:off x="1252728" y="3054096"/>
            <a:ext cx="41148" cy="274320"/>
          </a:xfrm>
          <a:prstGeom prst="rect">
            <a:avLst/>
          </a:prstGeom>
          <a:solidFill>
            <a:srgbClr val="8FB4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3"/>
          <p:cNvSpPr/>
          <p:nvPr/>
        </p:nvSpPr>
        <p:spPr>
          <a:xfrm>
            <a:off x="1380744" y="3044952"/>
            <a:ext cx="6601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RENDERING</a:t>
            </a:r>
            <a:r>
              <a:rPr lang="en-US" sz="750" dirty="0">
                <a:solidFill>
                  <a:srgbClr val="AFB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dynamic — no build step, publish is immediate</a:t>
            </a:r>
            <a:endParaRPr lang="en-US" sz="950" dirty="0"/>
          </a:p>
        </p:txBody>
      </p:sp>
      <p:sp>
        <p:nvSpPr>
          <p:cNvPr id="84" name="Shape 74"/>
          <p:cNvSpPr/>
          <p:nvPr/>
        </p:nvSpPr>
        <p:spPr>
          <a:xfrm>
            <a:off x="1380744" y="3364992"/>
            <a:ext cx="2127504" cy="292608"/>
          </a:xfrm>
          <a:prstGeom prst="roundRect">
            <a:avLst>
              <a:gd name="adj" fmla="val 9375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75"/>
          <p:cNvSpPr/>
          <p:nvPr/>
        </p:nvSpPr>
        <p:spPr>
          <a:xfrm>
            <a:off x="1453896" y="3364992"/>
            <a:ext cx="198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renderer  </a:t>
            </a:r>
            <a:r>
              <a:rPr lang="en-US" sz="650" dirty="0">
                <a:solidFill>
                  <a:srgbClr val="B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to HTML on demand</a:t>
            </a:r>
            <a:endParaRPr lang="en-US" sz="750" dirty="0"/>
          </a:p>
        </p:txBody>
      </p:sp>
      <p:sp>
        <p:nvSpPr>
          <p:cNvPr id="86" name="Shape 76"/>
          <p:cNvSpPr/>
          <p:nvPr/>
        </p:nvSpPr>
        <p:spPr>
          <a:xfrm>
            <a:off x="3617976" y="3364992"/>
            <a:ext cx="2127504" cy="292608"/>
          </a:xfrm>
          <a:prstGeom prst="roundRect">
            <a:avLst>
              <a:gd name="adj" fmla="val 9375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77"/>
          <p:cNvSpPr/>
          <p:nvPr/>
        </p:nvSpPr>
        <p:spPr>
          <a:xfrm>
            <a:off x="3691128" y="3364992"/>
            <a:ext cx="198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navigation  </a:t>
            </a:r>
            <a:r>
              <a:rPr lang="en-US" sz="650" dirty="0">
                <a:solidFill>
                  <a:srgbClr val="B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live from the hierarchy</a:t>
            </a:r>
            <a:endParaRPr lang="en-US" sz="750" dirty="0"/>
          </a:p>
        </p:txBody>
      </p:sp>
      <p:sp>
        <p:nvSpPr>
          <p:cNvPr id="88" name="Shape 78"/>
          <p:cNvSpPr/>
          <p:nvPr/>
        </p:nvSpPr>
        <p:spPr>
          <a:xfrm>
            <a:off x="5855208" y="3364992"/>
            <a:ext cx="2127504" cy="292608"/>
          </a:xfrm>
          <a:prstGeom prst="roundRect">
            <a:avLst>
              <a:gd name="adj" fmla="val 9375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79"/>
          <p:cNvSpPr/>
          <p:nvPr/>
        </p:nvSpPr>
        <p:spPr>
          <a:xfrm>
            <a:off x="5928360" y="3364992"/>
            <a:ext cx="198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next request  </a:t>
            </a:r>
            <a:r>
              <a:rPr lang="en-US" sz="650" dirty="0">
                <a:solidFill>
                  <a:srgbClr val="B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build, no static output</a:t>
            </a:r>
            <a:endParaRPr lang="en-US" sz="750" dirty="0"/>
          </a:p>
        </p:txBody>
      </p:sp>
      <p:sp>
        <p:nvSpPr>
          <p:cNvPr id="90" name="Shape 80"/>
          <p:cNvSpPr/>
          <p:nvPr/>
        </p:nvSpPr>
        <p:spPr>
          <a:xfrm>
            <a:off x="1252728" y="3913632"/>
            <a:ext cx="6858000" cy="1554480"/>
          </a:xfrm>
          <a:prstGeom prst="roundRect">
            <a:avLst>
              <a:gd name="adj" fmla="val 2353"/>
            </a:avLst>
          </a:prstGeom>
          <a:solidFill>
            <a:srgbClr val="27376C"/>
          </a:solidFill>
          <a:ln w="9525">
            <a:solidFill>
              <a:srgbClr val="4452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1"/>
          <p:cNvSpPr/>
          <p:nvPr/>
        </p:nvSpPr>
        <p:spPr>
          <a:xfrm>
            <a:off x="1252728" y="3968496"/>
            <a:ext cx="41148" cy="274320"/>
          </a:xfrm>
          <a:prstGeom prst="rect">
            <a:avLst/>
          </a:prstGeom>
          <a:solidFill>
            <a:srgbClr val="E08A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2"/>
          <p:cNvSpPr/>
          <p:nvPr/>
        </p:nvSpPr>
        <p:spPr>
          <a:xfrm>
            <a:off x="1380744" y="3959352"/>
            <a:ext cx="6601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SELF-UPDATING ARTICLES</a:t>
            </a:r>
            <a:r>
              <a:rPr lang="en-US" sz="750" dirty="0">
                <a:solidFill>
                  <a:srgbClr val="AFB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Detect → Assess → Propose → Execute, under human governance</a:t>
            </a:r>
            <a:endParaRPr lang="en-US" sz="950" dirty="0"/>
          </a:p>
        </p:txBody>
      </p:sp>
      <p:sp>
        <p:nvSpPr>
          <p:cNvPr id="93" name="Shape 83"/>
          <p:cNvSpPr/>
          <p:nvPr/>
        </p:nvSpPr>
        <p:spPr>
          <a:xfrm>
            <a:off x="1380744" y="4297680"/>
            <a:ext cx="1568196" cy="1042416"/>
          </a:xfrm>
          <a:prstGeom prst="roundRect">
            <a:avLst>
              <a:gd name="adj" fmla="val 3509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84"/>
          <p:cNvSpPr/>
          <p:nvPr/>
        </p:nvSpPr>
        <p:spPr>
          <a:xfrm>
            <a:off x="1380744" y="4297680"/>
            <a:ext cx="1568196" cy="41148"/>
          </a:xfrm>
          <a:prstGeom prst="rect">
            <a:avLst/>
          </a:prstGeom>
          <a:solidFill>
            <a:srgbClr val="8FB4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85"/>
          <p:cNvSpPr/>
          <p:nvPr/>
        </p:nvSpPr>
        <p:spPr>
          <a:xfrm>
            <a:off x="1463040" y="4379976"/>
            <a:ext cx="1403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 · Tier 0</a:t>
            </a:r>
            <a:endParaRPr lang="en-US" sz="800" dirty="0"/>
          </a:p>
        </p:txBody>
      </p:sp>
      <p:sp>
        <p:nvSpPr>
          <p:cNvPr id="96" name="Text 86"/>
          <p:cNvSpPr/>
          <p:nvPr/>
        </p:nvSpPr>
        <p:spPr>
          <a:xfrm>
            <a:off x="1463040" y="4572000"/>
            <a:ext cx="14310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scoring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and cross-reference checks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/ structure guards</a:t>
            </a:r>
            <a:endParaRPr lang="en-US" sz="650" dirty="0"/>
          </a:p>
        </p:txBody>
      </p:sp>
      <p:sp>
        <p:nvSpPr>
          <p:cNvPr id="97" name="Shape 87"/>
          <p:cNvSpPr/>
          <p:nvPr/>
        </p:nvSpPr>
        <p:spPr>
          <a:xfrm>
            <a:off x="3058668" y="4297680"/>
            <a:ext cx="1568196" cy="1042416"/>
          </a:xfrm>
          <a:prstGeom prst="roundRect">
            <a:avLst>
              <a:gd name="adj" fmla="val 3509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88"/>
          <p:cNvSpPr/>
          <p:nvPr/>
        </p:nvSpPr>
        <p:spPr>
          <a:xfrm>
            <a:off x="3058668" y="4297680"/>
            <a:ext cx="1568196" cy="41148"/>
          </a:xfrm>
          <a:prstGeom prst="rect">
            <a:avLst/>
          </a:prstGeom>
          <a:solidFill>
            <a:srgbClr val="D6467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89"/>
          <p:cNvSpPr/>
          <p:nvPr/>
        </p:nvSpPr>
        <p:spPr>
          <a:xfrm>
            <a:off x="3140964" y="4379976"/>
            <a:ext cx="1403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AI-driven · Tier 1–2</a:t>
            </a:r>
            <a:endParaRPr lang="en-US" sz="800" dirty="0"/>
          </a:p>
        </p:txBody>
      </p:sp>
      <p:sp>
        <p:nvSpPr>
          <p:cNvPr id="100" name="Text 90"/>
          <p:cNvSpPr/>
          <p:nvPr/>
        </p:nvSpPr>
        <p:spPr>
          <a:xfrm>
            <a:off x="3140964" y="4572000"/>
            <a:ext cx="14310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verification vs sources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and gap assessment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readability, domain expertise</a:t>
            </a:r>
            <a:endParaRPr lang="en-US" sz="650" dirty="0"/>
          </a:p>
        </p:txBody>
      </p:sp>
      <p:sp>
        <p:nvSpPr>
          <p:cNvPr id="101" name="Shape 91"/>
          <p:cNvSpPr/>
          <p:nvPr/>
        </p:nvSpPr>
        <p:spPr>
          <a:xfrm>
            <a:off x="4736592" y="4297680"/>
            <a:ext cx="1568196" cy="1042416"/>
          </a:xfrm>
          <a:prstGeom prst="roundRect">
            <a:avLst>
              <a:gd name="adj" fmla="val 3509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92"/>
          <p:cNvSpPr/>
          <p:nvPr/>
        </p:nvSpPr>
        <p:spPr>
          <a:xfrm>
            <a:off x="4736592" y="4297680"/>
            <a:ext cx="1568196" cy="41148"/>
          </a:xfrm>
          <a:prstGeom prst="rect">
            <a:avLst/>
          </a:prstGeom>
          <a:solidFill>
            <a:srgbClr val="E08A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93"/>
          <p:cNvSpPr/>
          <p:nvPr/>
        </p:nvSpPr>
        <p:spPr>
          <a:xfrm>
            <a:off x="4818888" y="4379976"/>
            <a:ext cx="1403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 &amp; critical</a:t>
            </a:r>
            <a:endParaRPr lang="en-US" sz="800" dirty="0"/>
          </a:p>
        </p:txBody>
      </p:sp>
      <p:sp>
        <p:nvSpPr>
          <p:cNvPr id="104" name="Text 94"/>
          <p:cNvSpPr/>
          <p:nvPr/>
        </p:nvSpPr>
        <p:spPr>
          <a:xfrm>
            <a:off x="4818888" y="4572000"/>
            <a:ext cx="14310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review of claims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development of argument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clarity, consistency, gap removal</a:t>
            </a:r>
            <a:endParaRPr lang="en-US" sz="650" dirty="0"/>
          </a:p>
        </p:txBody>
      </p:sp>
      <p:sp>
        <p:nvSpPr>
          <p:cNvPr id="105" name="Shape 95"/>
          <p:cNvSpPr/>
          <p:nvPr/>
        </p:nvSpPr>
        <p:spPr>
          <a:xfrm>
            <a:off x="6414516" y="4297680"/>
            <a:ext cx="1568196" cy="1042416"/>
          </a:xfrm>
          <a:prstGeom prst="roundRect">
            <a:avLst>
              <a:gd name="adj" fmla="val 3509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96"/>
          <p:cNvSpPr/>
          <p:nvPr/>
        </p:nvSpPr>
        <p:spPr>
          <a:xfrm>
            <a:off x="6414516" y="4297680"/>
            <a:ext cx="1568196" cy="41148"/>
          </a:xfrm>
          <a:prstGeom prst="rect">
            <a:avLst/>
          </a:prstGeom>
          <a:solidFill>
            <a:srgbClr val="2FA3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97"/>
          <p:cNvSpPr/>
          <p:nvPr/>
        </p:nvSpPr>
        <p:spPr>
          <a:xfrm>
            <a:off x="6496812" y="4379976"/>
            <a:ext cx="1403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</a:t>
            </a:r>
            <a:endParaRPr lang="en-US" sz="800" dirty="0"/>
          </a:p>
        </p:txBody>
      </p:sp>
      <p:sp>
        <p:nvSpPr>
          <p:cNvPr id="108" name="Text 98"/>
          <p:cNvSpPr/>
          <p:nvPr/>
        </p:nvSpPr>
        <p:spPr>
          <a:xfrm>
            <a:off x="6496812" y="4572000"/>
            <a:ext cx="14310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Validate → Reason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triangulation (2+)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knowledge-gap analysis</a:t>
            </a:r>
            <a:endParaRPr lang="en-US" sz="650" dirty="0"/>
          </a:p>
        </p:txBody>
      </p:sp>
      <p:sp>
        <p:nvSpPr>
          <p:cNvPr id="109" name="Shape 99"/>
          <p:cNvSpPr/>
          <p:nvPr/>
        </p:nvSpPr>
        <p:spPr>
          <a:xfrm>
            <a:off x="1252728" y="5742432"/>
            <a:ext cx="6858000" cy="713232"/>
          </a:xfrm>
          <a:prstGeom prst="roundRect">
            <a:avLst>
              <a:gd name="adj" fmla="val 5128"/>
            </a:avLst>
          </a:prstGeom>
          <a:solidFill>
            <a:srgbClr val="27376C"/>
          </a:solidFill>
          <a:ln w="9525">
            <a:solidFill>
              <a:srgbClr val="4452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0"/>
          <p:cNvSpPr/>
          <p:nvPr/>
        </p:nvSpPr>
        <p:spPr>
          <a:xfrm>
            <a:off x="1252728" y="5797296"/>
            <a:ext cx="41148" cy="274320"/>
          </a:xfrm>
          <a:prstGeom prst="rect">
            <a:avLst/>
          </a:prstGeom>
          <a:solidFill>
            <a:srgbClr val="2FA3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1"/>
          <p:cNvSpPr/>
          <p:nvPr/>
        </p:nvSpPr>
        <p:spPr>
          <a:xfrm>
            <a:off x="1380744" y="5788152"/>
            <a:ext cx="6601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MULTI-SOURCE STORAGE</a:t>
            </a:r>
            <a:r>
              <a:rPr lang="en-US" sz="750">
                <a:solidFill>
                  <a:srgbClr val="AFB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where the files reside — public and private, served as one</a:t>
            </a:r>
            <a:endParaRPr lang="en-US" sz="950" dirty="0"/>
          </a:p>
        </p:txBody>
      </p:sp>
      <p:sp>
        <p:nvSpPr>
          <p:cNvPr id="112" name="Shape 102"/>
          <p:cNvSpPr/>
          <p:nvPr/>
        </p:nvSpPr>
        <p:spPr>
          <a:xfrm>
            <a:off x="1380744" y="6108192"/>
            <a:ext cx="1568196" cy="274320"/>
          </a:xfrm>
          <a:prstGeom prst="roundRect">
            <a:avLst>
              <a:gd name="adj" fmla="val 10000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3896" y="6176772"/>
            <a:ext cx="137160" cy="137160"/>
          </a:xfrm>
          <a:prstGeom prst="rect">
            <a:avLst/>
          </a:prstGeom>
        </p:spPr>
      </p:pic>
      <p:sp>
        <p:nvSpPr>
          <p:cNvPr id="114" name="Text 103"/>
          <p:cNvSpPr/>
          <p:nvPr/>
        </p:nvSpPr>
        <p:spPr>
          <a:xfrm>
            <a:off x="1636776" y="6108192"/>
            <a:ext cx="1092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</a:t>
            </a:r>
            <a:endParaRPr lang="en-US" sz="700" dirty="0"/>
          </a:p>
        </p:txBody>
      </p:sp>
      <p:pic>
        <p:nvPicPr>
          <p:cNvPr id="11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56916" y="6185916"/>
            <a:ext cx="118872" cy="118872"/>
          </a:xfrm>
          <a:prstGeom prst="rect">
            <a:avLst/>
          </a:prstGeom>
        </p:spPr>
      </p:pic>
      <p:sp>
        <p:nvSpPr>
          <p:cNvPr id="116" name="Shape 104"/>
          <p:cNvSpPr/>
          <p:nvPr/>
        </p:nvSpPr>
        <p:spPr>
          <a:xfrm>
            <a:off x="3058668" y="6108192"/>
            <a:ext cx="1568196" cy="274320"/>
          </a:xfrm>
          <a:prstGeom prst="roundRect">
            <a:avLst>
              <a:gd name="adj" fmla="val 10000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31820" y="6176772"/>
            <a:ext cx="137160" cy="137160"/>
          </a:xfrm>
          <a:prstGeom prst="rect">
            <a:avLst/>
          </a:prstGeom>
        </p:spPr>
      </p:pic>
      <p:sp>
        <p:nvSpPr>
          <p:cNvPr id="118" name="Text 105"/>
          <p:cNvSpPr/>
          <p:nvPr/>
        </p:nvSpPr>
        <p:spPr>
          <a:xfrm>
            <a:off x="3314700" y="6108192"/>
            <a:ext cx="1092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storage account</a:t>
            </a:r>
            <a:endParaRPr lang="en-US" sz="700" dirty="0"/>
          </a:p>
        </p:txBody>
      </p:sp>
      <p:pic>
        <p:nvPicPr>
          <p:cNvPr id="119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4840" y="6185916"/>
            <a:ext cx="118872" cy="118872"/>
          </a:xfrm>
          <a:prstGeom prst="rect">
            <a:avLst/>
          </a:prstGeom>
        </p:spPr>
      </p:pic>
      <p:sp>
        <p:nvSpPr>
          <p:cNvPr id="120" name="Shape 106"/>
          <p:cNvSpPr/>
          <p:nvPr/>
        </p:nvSpPr>
        <p:spPr>
          <a:xfrm>
            <a:off x="4736592" y="6108192"/>
            <a:ext cx="1568196" cy="274320"/>
          </a:xfrm>
          <a:prstGeom prst="roundRect">
            <a:avLst>
              <a:gd name="adj" fmla="val 10000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1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09744" y="6176772"/>
            <a:ext cx="137160" cy="137160"/>
          </a:xfrm>
          <a:prstGeom prst="rect">
            <a:avLst/>
          </a:prstGeom>
        </p:spPr>
      </p:pic>
      <p:sp>
        <p:nvSpPr>
          <p:cNvPr id="122" name="Text 107"/>
          <p:cNvSpPr/>
          <p:nvPr/>
        </p:nvSpPr>
        <p:spPr>
          <a:xfrm>
            <a:off x="4992624" y="6108192"/>
            <a:ext cx="1092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storage account</a:t>
            </a:r>
            <a:endParaRPr lang="en-US" sz="700" dirty="0"/>
          </a:p>
        </p:txBody>
      </p:sp>
      <p:pic>
        <p:nvPicPr>
          <p:cNvPr id="123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12764" y="6185916"/>
            <a:ext cx="118872" cy="118872"/>
          </a:xfrm>
          <a:prstGeom prst="rect">
            <a:avLst/>
          </a:prstGeom>
        </p:spPr>
      </p:pic>
      <p:sp>
        <p:nvSpPr>
          <p:cNvPr id="124" name="Shape 108"/>
          <p:cNvSpPr/>
          <p:nvPr/>
        </p:nvSpPr>
        <p:spPr>
          <a:xfrm>
            <a:off x="6414516" y="6108192"/>
            <a:ext cx="1568196" cy="274320"/>
          </a:xfrm>
          <a:prstGeom prst="roundRect">
            <a:avLst>
              <a:gd name="adj" fmla="val 10000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5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7668" y="6176772"/>
            <a:ext cx="137160" cy="137160"/>
          </a:xfrm>
          <a:prstGeom prst="rect">
            <a:avLst/>
          </a:prstGeom>
        </p:spPr>
      </p:pic>
      <p:sp>
        <p:nvSpPr>
          <p:cNvPr id="126" name="Text 109"/>
          <p:cNvSpPr/>
          <p:nvPr/>
        </p:nvSpPr>
        <p:spPr>
          <a:xfrm>
            <a:off x="6670548" y="6108192"/>
            <a:ext cx="1092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OneDrive</a:t>
            </a:r>
            <a:endParaRPr lang="en-US" sz="700" dirty="0"/>
          </a:p>
        </p:txBody>
      </p:sp>
      <p:pic>
        <p:nvPicPr>
          <p:cNvPr id="12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90688" y="6185916"/>
            <a:ext cx="118872" cy="118872"/>
          </a:xfrm>
          <a:prstGeom prst="rect">
            <a:avLst/>
          </a:prstGeom>
        </p:spPr>
      </p:pic>
      <p:sp>
        <p:nvSpPr>
          <p:cNvPr id="128" name="Shape 110"/>
          <p:cNvSpPr/>
          <p:nvPr/>
        </p:nvSpPr>
        <p:spPr>
          <a:xfrm>
            <a:off x="566928" y="2478024"/>
            <a:ext cx="237744" cy="1435608"/>
          </a:xfrm>
          <a:prstGeom prst="upArrow">
            <a:avLst/>
          </a:prstGeom>
          <a:solidFill>
            <a:srgbClr val="D6467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11"/>
          <p:cNvSpPr/>
          <p:nvPr/>
        </p:nvSpPr>
        <p:spPr>
          <a:xfrm>
            <a:off x="868680" y="2478024"/>
            <a:ext cx="237744" cy="1435608"/>
          </a:xfrm>
          <a:prstGeom prst="upArrow">
            <a:avLst/>
          </a:prstGeom>
          <a:solidFill>
            <a:srgbClr val="2FA3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12"/>
          <p:cNvSpPr/>
          <p:nvPr/>
        </p:nvSpPr>
        <p:spPr>
          <a:xfrm rot="16200000">
            <a:off x="-160020" y="47000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6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self-updating prompt engineering</a:t>
            </a:r>
            <a:endParaRPr lang="en-US" sz="650" dirty="0"/>
          </a:p>
        </p:txBody>
      </p:sp>
      <p:sp>
        <p:nvSpPr>
          <p:cNvPr id="131" name="Text 113"/>
          <p:cNvSpPr/>
          <p:nvPr/>
        </p:nvSpPr>
        <p:spPr>
          <a:xfrm rot="16200000">
            <a:off x="141732" y="47000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self-updating context information</a:t>
            </a:r>
            <a:endParaRPr lang="en-US" sz="650" dirty="0"/>
          </a:p>
        </p:txBody>
      </p:sp>
      <p:sp>
        <p:nvSpPr>
          <p:cNvPr id="132" name="Shape 114"/>
          <p:cNvSpPr/>
          <p:nvPr/>
        </p:nvSpPr>
        <p:spPr>
          <a:xfrm>
            <a:off x="1527048" y="5486400"/>
            <a:ext cx="274320" cy="237744"/>
          </a:xfrm>
          <a:prstGeom prst="downArrow">
            <a:avLst/>
          </a:prstGeom>
          <a:solidFill>
            <a:srgbClr val="E08A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15"/>
          <p:cNvSpPr/>
          <p:nvPr/>
        </p:nvSpPr>
        <p:spPr>
          <a:xfrm>
            <a:off x="1874520" y="54864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self-updating articles</a:t>
            </a:r>
            <a:endParaRPr lang="en-US" sz="750" dirty="0"/>
          </a:p>
        </p:txBody>
      </p:sp>
      <p:sp>
        <p:nvSpPr>
          <p:cNvPr id="134" name="Shape 116"/>
          <p:cNvSpPr/>
          <p:nvPr/>
        </p:nvSpPr>
        <p:spPr>
          <a:xfrm>
            <a:off x="8202168" y="3822192"/>
            <a:ext cx="219456" cy="1828800"/>
          </a:xfrm>
          <a:prstGeom prst="upArrow">
            <a:avLst/>
          </a:prstGeom>
          <a:solidFill>
            <a:srgbClr val="8FB4E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17"/>
          <p:cNvSpPr/>
          <p:nvPr/>
        </p:nvSpPr>
        <p:spPr>
          <a:xfrm>
            <a:off x="7232904" y="3858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 demand</a:t>
            </a:r>
            <a:endParaRPr lang="en-US" sz="700" dirty="0"/>
          </a:p>
        </p:txBody>
      </p:sp>
      <p:sp>
        <p:nvSpPr>
          <p:cNvPr id="136" name="Shape 118"/>
          <p:cNvSpPr/>
          <p:nvPr/>
        </p:nvSpPr>
        <p:spPr>
          <a:xfrm>
            <a:off x="8604504" y="3840480"/>
            <a:ext cx="438912" cy="310896"/>
          </a:xfrm>
          <a:prstGeom prst="leftArrow">
            <a:avLst/>
          </a:prstGeom>
          <a:solidFill>
            <a:srgbClr val="1596A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19"/>
          <p:cNvSpPr/>
          <p:nvPr/>
        </p:nvSpPr>
        <p:spPr>
          <a:xfrm>
            <a:off x="8604504" y="1527048"/>
            <a:ext cx="438912" cy="237744"/>
          </a:xfrm>
          <a:prstGeom prst="leftArrow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20"/>
          <p:cNvSpPr/>
          <p:nvPr/>
        </p:nvSpPr>
        <p:spPr>
          <a:xfrm>
            <a:off x="7818120" y="978408"/>
            <a:ext cx="603504" cy="18288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21"/>
          <p:cNvSpPr/>
          <p:nvPr/>
        </p:nvSpPr>
        <p:spPr>
          <a:xfrm>
            <a:off x="7818120" y="97840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650" dirty="0"/>
          </a:p>
        </p:txBody>
      </p:sp>
      <p:sp>
        <p:nvSpPr>
          <p:cNvPr id="140" name="Shape 122"/>
          <p:cNvSpPr/>
          <p:nvPr/>
        </p:nvSpPr>
        <p:spPr>
          <a:xfrm>
            <a:off x="7397496" y="5824728"/>
            <a:ext cx="603504" cy="18288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23"/>
          <p:cNvSpPr/>
          <p:nvPr/>
        </p:nvSpPr>
        <p:spPr>
          <a:xfrm>
            <a:off x="7397496" y="582472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</Words>
  <Application>Microsoft Office PowerPoint</Application>
  <PresentationFormat>Widescreen</PresentationFormat>
  <Paragraphs>79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Hub — self-updating architecture</dc:title>
  <dc:subject>PptxGenJS Presentation</dc:subject>
  <dc:creator>Dario Airoldi</dc:creator>
  <cp:lastModifiedBy>Dario Airoldi</cp:lastModifiedBy>
  <cp:revision>3</cp:revision>
  <dcterms:created xsi:type="dcterms:W3CDTF">2026-08-06T10:46:18Z</dcterms:created>
  <dcterms:modified xsi:type="dcterms:W3CDTF">2026-08-20T20:34:18Z</dcterms:modified>
</cp:coreProperties>
</file>